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d02e68b-04b6-670d-5373-6855eb8ddef5}">
          <p14:sldIdLst>
            <p14:sldId id="256"/>
            <p14:sldId id="257"/>
          </p14:sldIdLst>
        </p14:section>
        <p14:section name="Algorithm" id="{fe847a32-0510-1c98-608a-760747def10e}">
          <p14:sldIdLst>
            <p14:sldId id="258"/>
            <p14:sldId id="259"/>
            <p14:sldId id="260"/>
          </p14:sldIdLst>
        </p14:section>
        <p14:section name="Analysis" id="{7ec9c05b-3e77-e082-055d-b8abe79208e5}">
          <p14:sldIdLst>
            <p14:sldId id="261"/>
          </p14:sldIdLst>
        </p14:section>
        <p14:section name="Close" id="{6bf32c9d-ab57-76e4-f1b8-fa3319c3c88d}">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24A"/>
                </a:solidFill>
                <a:latin typeface="+mn-lt"/>
              </a:defRPr>
            </a:pPr>
            <a:r>
              <a:rPr sz="1200" b="0" i="0" u="none" strike="noStrike">
                <a:solidFill>
                  <a:srgbClr val="10224A"/>
                </a:solidFill>
                <a:latin typeface="+mn-lt"/>
              </a:rPr>
              <a:t>Steps as V grows (sparse graph, E = 2V)</a:t>
            </a:r>
          </a:p>
        </c:rich>
      </c:tx>
      <c:layout/>
      <c:overlay val="0"/>
    </c:title>
    <c:autoTitleDeleted val="0"/>
    <c:plotArea>
      <c:layout/>
      <c:lineChart>
        <c:varyColors val="0"/>
        <c:ser>
          <c:idx val="0"/>
          <c:order val="0"/>
          <c:tx>
            <c:strRef>
              <c:f>Sheet1!$B$1</c:f>
              <c:strCache>
                <c:ptCount val="1"/>
                <c:pt idx="0">
                  <c:v>V² (array)</c:v>
                </c:pt>
              </c:strCache>
            </c:strRef>
          </c:tx>
          <c:spPr>
            <a:solidFill>
              <a:srgbClr val="1D4ED8"/>
            </a:solidFill>
            <a:ln w="25400" cap="flat">
              <a:solidFill>
                <a:srgbClr val="1D4ED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D4ED8"/>
              </a:solidFill>
              <a:ln w="9525" cap="flat">
                <a:solidFill>
                  <a:srgbClr val="1D4ED8"/>
                </a:solidFill>
                <a:prstDash val="solid"/>
                <a:round/>
              </a:ln>
              <a:effectLst/>
            </c:spPr>
          </c:marker>
          <c:cat>
            <c:multiLvlStrRef>
              <c:f>Sheet1!$A$2:$A$5</c:f>
              <c:multiLvlStrCache>
                <c:ptCount val="4"/>
                <c:lvl>
                  <c:pt idx="0">
                    <c:v>8</c:v>
                  </c:pt>
                  <c:pt idx="1">
                    <c:v>16</c:v>
                  </c:pt>
                  <c:pt idx="2">
                    <c:v>32</c:v>
                  </c:pt>
                  <c:pt idx="3">
                    <c:v>64</c:v>
                  </c:pt>
                </c:lvl>
              </c:multiLvlStrCache>
            </c:multiLvlStrRef>
          </c:cat>
          <c:val>
            <c:numRef>
              <c:f>Sheet1!$B$2:$B$5</c:f>
              <c:numCache>
                <c:formatCode>General</c:formatCode>
                <c:ptCount val="4"/>
                <c:pt idx="0">
                  <c:v>64</c:v>
                </c:pt>
                <c:pt idx="1">
                  <c:v>256</c:v>
                </c:pt>
                <c:pt idx="2">
                  <c:v>1024</c:v>
                </c:pt>
                <c:pt idx="3">
                  <c:v>4096</c:v>
                </c:pt>
              </c:numCache>
            </c:numRef>
          </c:val>
          <c:smooth val="0"/>
        </c:ser>
        <c:ser>
          <c:idx val="1"/>
          <c:order val="1"/>
          <c:tx>
            <c:strRef>
              <c:f>Sheet1!$C$1</c:f>
              <c:strCache>
                <c:ptCount val="1"/>
                <c:pt idx="0">
                  <c:v>E log V (heap)</c:v>
                </c:pt>
              </c:strCache>
            </c:strRef>
          </c:tx>
          <c:spPr>
            <a:solidFill>
              <a:srgbClr val="F59E0B"/>
            </a:solidFill>
            <a:ln w="254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F59E0B"/>
              </a:solidFill>
              <a:ln w="9525" cap="flat">
                <a:solidFill>
                  <a:srgbClr val="F59E0B"/>
                </a:solidFill>
                <a:prstDash val="solid"/>
                <a:round/>
              </a:ln>
              <a:effectLst/>
            </c:spPr>
          </c:marker>
          <c:cat>
            <c:multiLvlStrRef>
              <c:f>Sheet1!$A$2:$A$5</c:f>
              <c:multiLvlStrCache>
                <c:ptCount val="4"/>
                <c:lvl>
                  <c:pt idx="0">
                    <c:v>8</c:v>
                  </c:pt>
                  <c:pt idx="1">
                    <c:v>16</c:v>
                  </c:pt>
                  <c:pt idx="2">
                    <c:v>32</c:v>
                  </c:pt>
                  <c:pt idx="3">
                    <c:v>64</c:v>
                  </c:pt>
                </c:lvl>
              </c:multiLvlStrCache>
            </c:multiLvlStrRef>
          </c:cat>
          <c:val>
            <c:numRef>
              <c:f>Sheet1!$C$2:$C$5</c:f>
              <c:numCache>
                <c:formatCode>General</c:formatCode>
                <c:ptCount val="4"/>
                <c:pt idx="0">
                  <c:v>48</c:v>
                </c:pt>
                <c:pt idx="1">
                  <c:v>128</c:v>
                </c:pt>
                <c:pt idx="2">
                  <c:v>320</c:v>
                </c:pt>
                <c:pt idx="3">
                  <c:v>768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4A5F85"/>
                    </a:solidFill>
                    <a:latin typeface="+mn-lt"/>
                  </a:defRPr>
                </a:pPr>
                <a:r>
                  <a:rPr sz="1000" b="0" i="0" u="none" strike="noStrike">
                    <a:solidFill>
                      <a:srgbClr val="4A5F85"/>
                    </a:solidFill>
                    <a:latin typeface="+mn-lt"/>
                  </a:rPr>
                  <a:t>Number of vertices (V)</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F8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E1F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F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5F85"/>
              </a:solidFill>
              <a:latin typeface="+mn-lt"/>
              <a:cs typeface="+mn-lt"/>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topic: Prim's algorithm builds a Minimum Spanning Tree (MST) of a weighted, connected, undirected graph using the greedy method. We will use a 6-vertex, 9-edge graph throughout, starting from vertex A. The MST will have V - 1 = 5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an MST and describe Prim's three steps: start, select, repeat. Mention the four applications: designing computer or telephone networks, laying roads and cables at minimum cost, clustering data, and giving approximate solutions to the travelling salesman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pseudocode. key[v] stores the cheapest edge weight connecting v to the tree built so far. Each round we pick the unvisited vertex with the smallest key, add it to the MST, and relax the keys of its neighbours. The cut property is why the greedy choice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A. The cheapest edge leaving {A} is A-C (2), so add C. Now edge C-B (1) is the cheapest, add B. Next is B-D (5), then D-E (2), then E-F (3). Rejected edges: A-B (4), C-D (8), C-E (10) and D-F (6). Total weight is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shows the key values after the picked vertex has been added and its neighbours relaxed. Blue cells were updated in that step. Step 2 is the interesting one: key[B] improves from 4 to 1 because C is now in the tree. The parent array at the end gives the MST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an adjacency matrix and a simple array, finding the minimum key takes O(V) and is done V times, so O(V^2). With an adjacency list and a binary heap, each edge causes at most one heap update of O(log V), giving O(E log V). Space is O(V) for the key, parent and visited arrays. The chart compares V squared with E log V for a sparse graph where E = 2V.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Prim's algorithm grows one tree from a start vertex, always adding the cheapest edge that leaves it. It uses the greedy method, takes O(E log V) with a heap, and for our graph gives an MST of weight 13.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3" name="Text 0"/>
          <p:cNvSpPr/>
          <p:nvPr/>
        </p:nvSpPr>
        <p:spPr>
          <a:xfrm>
            <a:off x="457200" y="4828032"/>
            <a:ext cx="2743200" cy="228600"/>
          </a:xfrm>
          <a:prstGeom prst="rect">
            <a:avLst/>
          </a:prstGeom>
          <a:noFill/>
          <a:ln/>
        </p:spPr>
        <p:txBody>
          <a:bodyPr wrap="square" lIns="0" tIns="0" rIns="0" bIns="0" rtlCol="0" anchor="ctr"/>
          <a:lstStyle/>
          <a:p>
            <a:pPr indent="0" marL="0">
              <a:buNone/>
            </a:pPr>
            <a:r>
              <a:rPr lang="en-US" sz="900" i="1" dirty="0">
                <a:solidFill>
                  <a:schemeClr val="accent2"/>
                </a:solidFill>
              </a:rPr>
              <a:t>Generated using Claude</a:t>
            </a:r>
            <a:endParaRPr lang="en-US" sz="900" dirty="0"/>
          </a:p>
        </p:txBody>
      </p:sp>
      <p:sp>
        <p:nvSpPr>
          <p:cNvPr id="4" name="Text 1"/>
          <p:cNvSpPr/>
          <p:nvPr/>
        </p:nvSpPr>
        <p:spPr>
          <a:xfrm>
            <a:off x="3291840" y="4828032"/>
            <a:ext cx="4846320" cy="228600"/>
          </a:xfrm>
          <a:prstGeom prst="rect">
            <a:avLst/>
          </a:prstGeom>
          <a:noFill/>
          <a:ln/>
        </p:spPr>
        <p:txBody>
          <a:bodyPr wrap="square" lIns="0" tIns="0" rIns="0" bIns="0" rtlCol="0" anchor="ctr"/>
          <a:lstStyle/>
          <a:p>
            <a:pPr algn="r" indent="0" marL="0">
              <a:buNone/>
            </a:pPr>
            <a:r>
              <a:rPr lang="en-US" sz="1000" dirty="0">
                <a:solidFill>
                  <a:schemeClr val="accent2"/>
                </a:solidFill>
              </a:rPr>
              <a:t>Vedant Tarare  |  PRN: 25070521191  |  D-1</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731520"/>
            <a:ext cx="4297680" cy="128016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457200" y="4828032"/>
            <a:ext cx="2743200" cy="228600"/>
          </a:xfrm>
          <a:prstGeom prst="rect">
            <a:avLst/>
          </a:prstGeom>
          <a:noFill/>
          <a:ln/>
        </p:spPr>
        <p:txBody>
          <a:bodyPr wrap="square" lIns="0" tIns="0" rIns="0" bIns="0" rtlCol="0" anchor="ctr"/>
          <a:lstStyle/>
          <a:p>
            <a:pPr indent="0" marL="0">
              <a:buNone/>
            </a:pPr>
            <a:r>
              <a:rPr lang="en-US" sz="900" i="1" dirty="0">
                <a:solidFill>
                  <a:schemeClr val="accent2"/>
                </a:solidFill>
              </a:rPr>
              <a:t>Generated using Claude</a:t>
            </a:r>
            <a:endParaRPr lang="en-US" sz="900" dirty="0"/>
          </a:p>
        </p:txBody>
      </p:sp>
      <p:sp>
        <p:nvSpPr>
          <p:cNvPr id="4" name="Text 1"/>
          <p:cNvSpPr/>
          <p:nvPr/>
        </p:nvSpPr>
        <p:spPr>
          <a:xfrm>
            <a:off x="3291840" y="4828032"/>
            <a:ext cx="4846320" cy="228600"/>
          </a:xfrm>
          <a:prstGeom prst="rect">
            <a:avLst/>
          </a:prstGeom>
          <a:noFill/>
          <a:ln/>
        </p:spPr>
        <p:txBody>
          <a:bodyPr wrap="square" lIns="0" tIns="0" rIns="0" bIns="0" rtlCol="0" anchor="ctr"/>
          <a:lstStyle/>
          <a:p>
            <a:pPr algn="r" indent="0" marL="0">
              <a:buNone/>
            </a:pPr>
            <a:r>
              <a:rPr lang="en-US" sz="1000" dirty="0">
                <a:solidFill>
                  <a:schemeClr val="accent2"/>
                </a:solidFill>
              </a:rPr>
              <a:t>Vedant Tarare  |  PRN: 25070521191  |  D-1</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822960"/>
            <a:ext cx="402336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457200" y="4828032"/>
            <a:ext cx="2743200" cy="228600"/>
          </a:xfrm>
          <a:prstGeom prst="rect">
            <a:avLst/>
          </a:prstGeom>
          <a:noFill/>
          <a:ln/>
        </p:spPr>
        <p:txBody>
          <a:bodyPr wrap="square" lIns="0" tIns="0" rIns="0" bIns="0" rtlCol="0" anchor="ctr"/>
          <a:lstStyle/>
          <a:p>
            <a:pPr indent="0" marL="0">
              <a:buNone/>
            </a:pPr>
            <a:r>
              <a:rPr lang="en-US" sz="900" i="1" dirty="0">
                <a:solidFill>
                  <a:schemeClr val="accent2"/>
                </a:solidFill>
              </a:rPr>
              <a:t>Generated using Claude</a:t>
            </a:r>
            <a:endParaRPr lang="en-US" sz="900" dirty="0"/>
          </a:p>
        </p:txBody>
      </p:sp>
      <p:sp>
        <p:nvSpPr>
          <p:cNvPr id="4" name="Text 1"/>
          <p:cNvSpPr/>
          <p:nvPr/>
        </p:nvSpPr>
        <p:spPr>
          <a:xfrm>
            <a:off x="3291840" y="4828032"/>
            <a:ext cx="4846320" cy="228600"/>
          </a:xfrm>
          <a:prstGeom prst="rect">
            <a:avLst/>
          </a:prstGeom>
          <a:noFill/>
          <a:ln/>
        </p:spPr>
        <p:txBody>
          <a:bodyPr wrap="square" lIns="0" tIns="0" rIns="0" bIns="0" rtlCol="0" anchor="ctr"/>
          <a:lstStyle/>
          <a:p>
            <a:pPr algn="r" indent="0" marL="0">
              <a:buNone/>
            </a:pPr>
            <a:r>
              <a:rPr lang="en-US" sz="1000" dirty="0">
                <a:solidFill>
                  <a:schemeClr val="accent2"/>
                </a:solidFill>
              </a:rPr>
              <a:t>Vedant Tarare  |  PRN: 25070521191  |  D-1</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731520"/>
            <a:ext cx="4297680" cy="1280160"/>
          </a:xfrm>
          <a:prstGeom prst="rect">
            <a:avLst/>
          </a:prstGeom>
          <a:noFill/>
          <a:ln/>
        </p:spPr>
        <p:txBody>
          <a:bodyPr wrap="square" lIns="0" tIns="0" rIns="0" bIns="0" rtlCol="0" anchor="b"/>
          <a:lstStyle/>
          <a:p>
            <a:pPr algn="l" indent="0" marL="0">
              <a:buNone/>
            </a:pPr>
            <a:r>
              <a:rPr lang="en-US" sz="2800" b="1" dirty="0">
                <a:solidFill>
                  <a:schemeClr val="bg1"/>
                </a:solidFill>
              </a:rPr>
              <a:t>Minimum Spanning Tree using Prim's Algorithm</a:t>
            </a:r>
            <a:endParaRPr lang="en-US" sz="2800" dirty="0"/>
          </a:p>
        </p:txBody>
      </p:sp>
      <p:sp>
        <p:nvSpPr>
          <p:cNvPr id="3" name="Subtitle"/>
          <p:cNvSpPr txBox="1"/>
          <p:nvPr/>
        </p:nvSpPr>
        <p:spPr>
          <a:xfrm>
            <a:off x="457200" y="2148840"/>
            <a:ext cx="4297680" cy="274320"/>
          </a:xfrm>
          <a:prstGeom prst="rect">
            <a:avLst/>
          </a:prstGeom>
          <a:noFill/>
          <a:ln/>
        </p:spPr>
        <p:txBody>
          <a:bodyPr wrap="square" lIns="0" tIns="0" rIns="0" bIns="0" rtlCol="0" anchor="ctr"/>
          <a:lstStyle/>
          <a:p>
            <a:pPr indent="0" marL="0">
              <a:buNone/>
            </a:pPr>
            <a:r>
              <a:rPr lang="en-US" sz="1400" b="1" dirty="0">
                <a:solidFill>
                  <a:schemeClr val="accent2"/>
                </a:solidFill>
              </a:rPr>
              <a:t>Design and Analysis of Algorithms (DAA)</a:t>
            </a:r>
            <a:endParaRPr lang="en-US" sz="1400" dirty="0"/>
          </a:p>
        </p:txBody>
      </p:sp>
      <p:sp>
        <p:nvSpPr>
          <p:cNvPr id="4" name="Chip greedy"/>
          <p:cNvSpPr/>
          <p:nvPr/>
        </p:nvSpPr>
        <p:spPr>
          <a:xfrm>
            <a:off x="457200" y="2606040"/>
            <a:ext cx="1463040" cy="347472"/>
          </a:xfrm>
          <a:prstGeom prst="roundRect">
            <a:avLst>
              <a:gd name="adj" fmla="val 21053"/>
            </a:avLst>
          </a:prstGeom>
          <a:solidFill>
            <a:schemeClr val="accent1"/>
          </a:solidFill>
          <a:ln/>
        </p:spPr>
        <p:txBody>
          <a:bodyPr wrap="square" lIns="0" tIns="0" rIns="0" bIns="0" rtlCol="0" anchor="ctr"/>
          <a:lstStyle/>
          <a:p>
            <a:pPr algn="ctr" indent="0" marL="0">
              <a:buNone/>
            </a:pPr>
            <a:r>
              <a:rPr lang="en-US" sz="1200" b="1" dirty="0">
                <a:solidFill>
                  <a:schemeClr val="bg1"/>
                </a:solidFill>
              </a:rPr>
              <a:t>Greedy Method</a:t>
            </a:r>
            <a:endParaRPr lang="en-US" sz="1200" dirty="0"/>
          </a:p>
        </p:txBody>
      </p:sp>
      <p:sp>
        <p:nvSpPr>
          <p:cNvPr id="5" name="Chip complexity"/>
          <p:cNvSpPr/>
          <p:nvPr/>
        </p:nvSpPr>
        <p:spPr>
          <a:xfrm>
            <a:off x="2057400" y="2606040"/>
            <a:ext cx="1188720" cy="347472"/>
          </a:xfrm>
          <a:prstGeom prst="roundRect">
            <a:avLst>
              <a:gd name="adj" fmla="val 21053"/>
            </a:avLst>
          </a:prstGeom>
          <a:solidFill>
            <a:schemeClr val="tx1"/>
          </a:solidFill>
          <a:ln w="12700">
            <a:solidFill>
              <a:schemeClr val="accent2"/>
            </a:solidFill>
          </a:ln>
        </p:spPr>
        <p:txBody>
          <a:bodyPr wrap="square" lIns="0" tIns="0" rIns="0" bIns="0" rtlCol="0" anchor="ctr"/>
          <a:lstStyle/>
          <a:p>
            <a:pPr algn="ctr" indent="0" marL="0">
              <a:buNone/>
            </a:pPr>
            <a:r>
              <a:rPr lang="en-US" sz="1200" b="1" dirty="0">
                <a:solidFill>
                  <a:schemeClr val="accent2"/>
                </a:solidFill>
              </a:rPr>
              <a:t>O(E log V)</a:t>
            </a:r>
            <a:endParaRPr lang="en-US" sz="1200" dirty="0"/>
          </a:p>
        </p:txBody>
      </p:sp>
      <p:sp>
        <p:nvSpPr>
          <p:cNvPr id="6" name="Presenter"/>
          <p:cNvSpPr txBox="1"/>
          <p:nvPr/>
        </p:nvSpPr>
        <p:spPr>
          <a:xfrm>
            <a:off x="457200" y="3246120"/>
            <a:ext cx="4297680" cy="502920"/>
          </a:xfrm>
          <a:prstGeom prst="rect">
            <a:avLst/>
          </a:prstGeom>
          <a:noFill/>
          <a:ln/>
        </p:spPr>
        <p:txBody>
          <a:bodyPr wrap="square" lIns="0" tIns="0" rIns="0" bIns="0" rtlCol="0" anchor="t"/>
          <a:lstStyle/>
          <a:p>
            <a:pPr indent="0" marL="0">
              <a:buNone/>
            </a:pPr>
            <a:r>
              <a:rPr lang="en-US" sz="1200" b="1" dirty="0">
                <a:solidFill>
                  <a:schemeClr val="bg1"/>
                </a:solidFill>
              </a:rPr>
              <a:t>Presenter: Vedant Tarare</a:t>
            </a:r>
            <a:endParaRPr lang="en-US" sz="1200" dirty="0"/>
          </a:p>
          <a:p>
            <a:pPr indent="0" marL="0">
              <a:buNone/>
            </a:pPr>
            <a:r>
              <a:rPr lang="en-US" sz="1200" dirty="0">
                <a:solidFill>
                  <a:schemeClr val="bg1"/>
                </a:solidFill>
              </a:rPr>
              <a:t>PRN: 25070521191  |  Sec: D-1  |  Sem: III</a:t>
            </a:r>
            <a:endParaRPr lang="en-US" sz="1200" dirty="0"/>
          </a:p>
        </p:txBody>
      </p:sp>
      <p:sp>
        <p:nvSpPr>
          <p:cNvPr id="7" name="Graph facts"/>
          <p:cNvSpPr txBox="1"/>
          <p:nvPr/>
        </p:nvSpPr>
        <p:spPr>
          <a:xfrm>
            <a:off x="457200" y="3931920"/>
            <a:ext cx="4297680" cy="274320"/>
          </a:xfrm>
          <a:prstGeom prst="rect">
            <a:avLst/>
          </a:prstGeom>
          <a:noFill/>
          <a:ln/>
        </p:spPr>
        <p:txBody>
          <a:bodyPr wrap="square" lIns="0" tIns="0" rIns="0" bIns="0" rtlCol="0" anchor="ctr"/>
          <a:lstStyle/>
          <a:p>
            <a:pPr indent="0" marL="0">
              <a:buNone/>
            </a:pPr>
            <a:r>
              <a:rPr lang="en-US" sz="1200" dirty="0">
                <a:solidFill>
                  <a:schemeClr val="bg2"/>
                </a:solidFill>
              </a:rPr>
              <a:t>Weighted graph  |  V = 6  |  E = 9  |  MST has V − 1 = 5 edges</a:t>
            </a:r>
            <a:endParaRPr lang="en-US" sz="1200" dirty="0"/>
          </a:p>
        </p:txBody>
      </p:sp>
      <p:sp>
        <p:nvSpPr>
          <p:cNvPr id="8" name="Graph card"/>
          <p:cNvSpPr/>
          <p:nvPr/>
        </p:nvSpPr>
        <p:spPr>
          <a:xfrm>
            <a:off x="4846320" y="640080"/>
            <a:ext cx="3840480" cy="3566160"/>
          </a:xfrm>
          <a:prstGeom prst="roundRect">
            <a:avLst>
              <a:gd name="adj" fmla="val 2051"/>
            </a:avLst>
          </a:prstGeom>
          <a:solidFill>
            <a:schemeClr val="tx2"/>
          </a:solidFill>
          <a:ln w="9525">
            <a:solidFill>
              <a:schemeClr val="accent3"/>
            </a:solidFill>
            <a:prstDash val="solid"/>
          </a:ln>
        </p:spPr>
      </p:sp>
      <p:sp>
        <p:nvSpPr>
          <p:cNvPr id="9" name="Edge A-B"/>
          <p:cNvSpPr/>
          <p:nvPr/>
        </p:nvSpPr>
        <p:spPr>
          <a:xfrm flipV="1">
            <a:off x="5257800" y="1097280"/>
            <a:ext cx="905256" cy="1051560"/>
          </a:xfrm>
          <a:prstGeom prst="line">
            <a:avLst/>
          </a:prstGeom>
          <a:noFill/>
          <a:ln w="19050">
            <a:solidFill>
              <a:schemeClr val="bg2"/>
            </a:solidFill>
            <a:prstDash val="solid"/>
          </a:ln>
        </p:spPr>
      </p:sp>
      <p:sp>
        <p:nvSpPr>
          <p:cNvPr id="10" name="Edge A-C"/>
          <p:cNvSpPr/>
          <p:nvPr/>
        </p:nvSpPr>
        <p:spPr>
          <a:xfrm>
            <a:off x="5257800" y="2148840"/>
            <a:ext cx="905256" cy="1051560"/>
          </a:xfrm>
          <a:prstGeom prst="line">
            <a:avLst/>
          </a:prstGeom>
          <a:noFill/>
          <a:ln w="19050">
            <a:solidFill>
              <a:schemeClr val="bg2"/>
            </a:solidFill>
            <a:prstDash val="solid"/>
          </a:ln>
        </p:spPr>
      </p:sp>
      <p:sp>
        <p:nvSpPr>
          <p:cNvPr id="11" name="Edge B-C"/>
          <p:cNvSpPr/>
          <p:nvPr/>
        </p:nvSpPr>
        <p:spPr>
          <a:xfrm>
            <a:off x="6163056" y="1097280"/>
            <a:ext cx="0" cy="2103120"/>
          </a:xfrm>
          <a:prstGeom prst="line">
            <a:avLst/>
          </a:prstGeom>
          <a:noFill/>
          <a:ln w="19050">
            <a:solidFill>
              <a:schemeClr val="bg2"/>
            </a:solidFill>
            <a:prstDash val="solid"/>
          </a:ln>
        </p:spPr>
      </p:sp>
      <p:sp>
        <p:nvSpPr>
          <p:cNvPr id="12" name="Edge B-D"/>
          <p:cNvSpPr/>
          <p:nvPr/>
        </p:nvSpPr>
        <p:spPr>
          <a:xfrm>
            <a:off x="6163056" y="1097280"/>
            <a:ext cx="1207008" cy="0"/>
          </a:xfrm>
          <a:prstGeom prst="line">
            <a:avLst/>
          </a:prstGeom>
          <a:noFill/>
          <a:ln w="19050">
            <a:solidFill>
              <a:schemeClr val="bg2"/>
            </a:solidFill>
            <a:prstDash val="solid"/>
          </a:ln>
        </p:spPr>
      </p:sp>
      <p:sp>
        <p:nvSpPr>
          <p:cNvPr id="13" name="Edge C-D"/>
          <p:cNvSpPr/>
          <p:nvPr/>
        </p:nvSpPr>
        <p:spPr>
          <a:xfrm flipV="1">
            <a:off x="6163056" y="1097280"/>
            <a:ext cx="1207008" cy="2103120"/>
          </a:xfrm>
          <a:prstGeom prst="line">
            <a:avLst/>
          </a:prstGeom>
          <a:noFill/>
          <a:ln w="19050">
            <a:solidFill>
              <a:schemeClr val="bg2"/>
            </a:solidFill>
            <a:prstDash val="solid"/>
          </a:ln>
        </p:spPr>
      </p:sp>
      <p:sp>
        <p:nvSpPr>
          <p:cNvPr id="14" name="Edge C-E"/>
          <p:cNvSpPr/>
          <p:nvPr/>
        </p:nvSpPr>
        <p:spPr>
          <a:xfrm>
            <a:off x="6163056" y="3200400"/>
            <a:ext cx="1207008" cy="0"/>
          </a:xfrm>
          <a:prstGeom prst="line">
            <a:avLst/>
          </a:prstGeom>
          <a:noFill/>
          <a:ln w="19050">
            <a:solidFill>
              <a:schemeClr val="bg2"/>
            </a:solidFill>
            <a:prstDash val="solid"/>
          </a:ln>
        </p:spPr>
      </p:sp>
      <p:sp>
        <p:nvSpPr>
          <p:cNvPr id="15" name="Edge D-E"/>
          <p:cNvSpPr/>
          <p:nvPr/>
        </p:nvSpPr>
        <p:spPr>
          <a:xfrm>
            <a:off x="7370064" y="1097280"/>
            <a:ext cx="0" cy="2103120"/>
          </a:xfrm>
          <a:prstGeom prst="line">
            <a:avLst/>
          </a:prstGeom>
          <a:noFill/>
          <a:ln w="19050">
            <a:solidFill>
              <a:schemeClr val="bg2"/>
            </a:solidFill>
            <a:prstDash val="solid"/>
          </a:ln>
        </p:spPr>
      </p:sp>
      <p:sp>
        <p:nvSpPr>
          <p:cNvPr id="16" name="Edge D-F"/>
          <p:cNvSpPr/>
          <p:nvPr/>
        </p:nvSpPr>
        <p:spPr>
          <a:xfrm>
            <a:off x="7370064" y="1097280"/>
            <a:ext cx="905256" cy="1051560"/>
          </a:xfrm>
          <a:prstGeom prst="line">
            <a:avLst/>
          </a:prstGeom>
          <a:noFill/>
          <a:ln w="19050">
            <a:solidFill>
              <a:schemeClr val="bg2"/>
            </a:solidFill>
            <a:prstDash val="solid"/>
          </a:ln>
        </p:spPr>
      </p:sp>
      <p:sp>
        <p:nvSpPr>
          <p:cNvPr id="17" name="Edge E-F"/>
          <p:cNvSpPr/>
          <p:nvPr/>
        </p:nvSpPr>
        <p:spPr>
          <a:xfrm flipV="1">
            <a:off x="7370064" y="2148840"/>
            <a:ext cx="905256" cy="1051560"/>
          </a:xfrm>
          <a:prstGeom prst="line">
            <a:avLst/>
          </a:prstGeom>
          <a:noFill/>
          <a:ln w="19050">
            <a:solidFill>
              <a:schemeClr val="bg2"/>
            </a:solidFill>
            <a:prstDash val="solid"/>
          </a:ln>
        </p:spPr>
      </p:sp>
      <p:sp>
        <p:nvSpPr>
          <p:cNvPr id="18" name="Weight A-B"/>
          <p:cNvSpPr/>
          <p:nvPr/>
        </p:nvSpPr>
        <p:spPr>
          <a:xfrm>
            <a:off x="5564124" y="152247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19" name="Weight A-C"/>
          <p:cNvSpPr/>
          <p:nvPr/>
        </p:nvSpPr>
        <p:spPr>
          <a:xfrm>
            <a:off x="5564124" y="257403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0" name="Weight B-C"/>
          <p:cNvSpPr/>
          <p:nvPr/>
        </p:nvSpPr>
        <p:spPr>
          <a:xfrm>
            <a:off x="6016752" y="204825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1" name="Weight B-D"/>
          <p:cNvSpPr/>
          <p:nvPr/>
        </p:nvSpPr>
        <p:spPr>
          <a:xfrm>
            <a:off x="6620256" y="99669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22" name="Weight C-D"/>
          <p:cNvSpPr/>
          <p:nvPr/>
        </p:nvSpPr>
        <p:spPr>
          <a:xfrm>
            <a:off x="6620256" y="204825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23" name="Weight C-E"/>
          <p:cNvSpPr/>
          <p:nvPr/>
        </p:nvSpPr>
        <p:spPr>
          <a:xfrm>
            <a:off x="6620256" y="309981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10</a:t>
            </a:r>
            <a:endParaRPr lang="en-US" sz="1000" dirty="0"/>
          </a:p>
        </p:txBody>
      </p:sp>
      <p:sp>
        <p:nvSpPr>
          <p:cNvPr id="24" name="Weight D-E"/>
          <p:cNvSpPr/>
          <p:nvPr/>
        </p:nvSpPr>
        <p:spPr>
          <a:xfrm>
            <a:off x="7223760" y="204825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5" name="Weight D-F"/>
          <p:cNvSpPr/>
          <p:nvPr/>
        </p:nvSpPr>
        <p:spPr>
          <a:xfrm>
            <a:off x="7676388" y="152247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26" name="Weight E-F"/>
          <p:cNvSpPr/>
          <p:nvPr/>
        </p:nvSpPr>
        <p:spPr>
          <a:xfrm>
            <a:off x="7676388" y="257403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7" name="Vertex A"/>
          <p:cNvSpPr/>
          <p:nvPr/>
        </p:nvSpPr>
        <p:spPr>
          <a:xfrm>
            <a:off x="5038344" y="1929384"/>
            <a:ext cx="438912" cy="438912"/>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400" b="1" dirty="0">
                <a:solidFill>
                  <a:schemeClr val="tx1"/>
                </a:solidFill>
              </a:rPr>
              <a:t>A</a:t>
            </a:r>
            <a:endParaRPr lang="en-US" sz="1400" dirty="0"/>
          </a:p>
        </p:txBody>
      </p:sp>
      <p:sp>
        <p:nvSpPr>
          <p:cNvPr id="28" name="Vertex B"/>
          <p:cNvSpPr/>
          <p:nvPr/>
        </p:nvSpPr>
        <p:spPr>
          <a:xfrm>
            <a:off x="5943600" y="877824"/>
            <a:ext cx="438912" cy="438912"/>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9" name="Vertex C"/>
          <p:cNvSpPr/>
          <p:nvPr/>
        </p:nvSpPr>
        <p:spPr>
          <a:xfrm>
            <a:off x="5943600" y="2980944"/>
            <a:ext cx="438912" cy="438912"/>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30" name="Vertex D"/>
          <p:cNvSpPr/>
          <p:nvPr/>
        </p:nvSpPr>
        <p:spPr>
          <a:xfrm>
            <a:off x="7150608" y="877824"/>
            <a:ext cx="438912" cy="438912"/>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31" name="Vertex E"/>
          <p:cNvSpPr/>
          <p:nvPr/>
        </p:nvSpPr>
        <p:spPr>
          <a:xfrm>
            <a:off x="7150608" y="2980944"/>
            <a:ext cx="438912" cy="438912"/>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32" name="Vertex F"/>
          <p:cNvSpPr/>
          <p:nvPr/>
        </p:nvSpPr>
        <p:spPr>
          <a:xfrm>
            <a:off x="8055864" y="1929384"/>
            <a:ext cx="438912" cy="438912"/>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33" name="Graph caption"/>
          <p:cNvSpPr txBox="1"/>
          <p:nvPr/>
        </p:nvSpPr>
        <p:spPr>
          <a:xfrm>
            <a:off x="5029200" y="3611880"/>
            <a:ext cx="3474720" cy="457200"/>
          </a:xfrm>
          <a:prstGeom prst="rect">
            <a:avLst/>
          </a:prstGeom>
          <a:noFill/>
          <a:ln/>
        </p:spPr>
        <p:txBody>
          <a:bodyPr wrap="square" lIns="0" tIns="0" rIns="0" bIns="0" rtlCol="0" anchor="ctr"/>
          <a:lstStyle/>
          <a:p>
            <a:pPr algn="ctr" indent="0" marL="0">
              <a:buNone/>
            </a:pPr>
            <a:r>
              <a:rPr lang="en-US" sz="1200" dirty="0">
                <a:solidFill>
                  <a:schemeClr val="bg2"/>
                </a:solidFill>
              </a:rPr>
              <a:t>Grow one tree, one cheapest edge at a time</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bg1"/>
                </a:solidFill>
              </a:rPr>
              <a:t>Introduction to Prim's Algorithm</a:t>
            </a:r>
            <a:endParaRPr lang="en-US" sz="2600" dirty="0"/>
          </a:p>
        </p:txBody>
      </p:sp>
      <p:sp>
        <p:nvSpPr>
          <p:cNvPr id="3" name="Caption"/>
          <p:cNvSpPr txBox="1"/>
          <p:nvPr/>
        </p:nvSpPr>
        <p:spPr>
          <a:xfrm>
            <a:off x="457200" y="804672"/>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Greedy method  |  Works on a connected, weighted, undirected graph</a:t>
            </a:r>
            <a:endParaRPr lang="en-US" sz="1200" dirty="0"/>
          </a:p>
        </p:txBody>
      </p:sp>
      <p:sp>
        <p:nvSpPr>
          <p:cNvPr id="4" name="Intro bullets"/>
          <p:cNvSpPr txBox="1"/>
          <p:nvPr/>
        </p:nvSpPr>
        <p:spPr>
          <a:xfrm>
            <a:off x="457200" y="1188720"/>
            <a:ext cx="438912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Prim's algorithm finds a Minimum Spanning Tree (MST): a tree that connects all vertices with the least total edge weight.</a:t>
            </a:r>
            <a:endParaRPr lang="en-US" sz="1400" dirty="0"/>
          </a:p>
          <a:p>
            <a:pPr marL="342900" indent="-342900">
              <a:spcAft>
                <a:spcPts val="800"/>
              </a:spcAft>
              <a:buSzPct val="100000"/>
              <a:buChar char="•"/>
            </a:pPr>
            <a:r>
              <a:rPr lang="en-US" sz="1400" dirty="0">
                <a:solidFill>
                  <a:schemeClr val="bg1"/>
                </a:solidFill>
              </a:rPr>
              <a:t>It starts from any one vertex and grows the tree by adding the cheapest edge that leaves it.</a:t>
            </a:r>
            <a:endParaRPr lang="en-US" sz="1400" dirty="0"/>
          </a:p>
          <a:p>
            <a:pPr marL="342900" indent="-342900">
              <a:spcAft>
                <a:spcPts val="800"/>
              </a:spcAft>
              <a:buSzPct val="100000"/>
              <a:buChar char="•"/>
            </a:pPr>
            <a:r>
              <a:rPr lang="en-US" sz="1400" dirty="0">
                <a:solidFill>
                  <a:schemeClr val="bg1"/>
                </a:solidFill>
              </a:rPr>
              <a:t>No cycle is ever formed, and the final tree has exactly V − 1 edges.</a:t>
            </a:r>
            <a:endParaRPr lang="en-US" sz="1400" dirty="0"/>
          </a:p>
          <a:p>
            <a:pPr marL="342900" indent="-342900">
              <a:buSzPct val="100000"/>
              <a:buChar char="•"/>
            </a:pPr>
            <a:r>
              <a:rPr lang="en-US" sz="1400" dirty="0">
                <a:solidFill>
                  <a:schemeClr val="bg1"/>
                </a:solidFill>
              </a:rPr>
              <a:t>The greedy choice at each step is safe, so the result is always optimal.</a:t>
            </a:r>
            <a:endParaRPr lang="en-US" sz="1400" dirty="0"/>
          </a:p>
        </p:txBody>
      </p:sp>
      <p:sp>
        <p:nvSpPr>
          <p:cNvPr id="5" name="Steps card"/>
          <p:cNvSpPr/>
          <p:nvPr/>
        </p:nvSpPr>
        <p:spPr>
          <a:xfrm>
            <a:off x="5029200" y="1188720"/>
            <a:ext cx="3657600" cy="2286000"/>
          </a:xfrm>
          <a:prstGeom prst="roundRect">
            <a:avLst>
              <a:gd name="adj" fmla="val 3200"/>
            </a:avLst>
          </a:prstGeom>
          <a:solidFill>
            <a:schemeClr val="tx2"/>
          </a:solidFill>
          <a:ln w="9525">
            <a:solidFill>
              <a:schemeClr val="accent3"/>
            </a:solidFill>
            <a:prstDash val="solid"/>
          </a:ln>
        </p:spPr>
      </p:sp>
      <p:sp>
        <p:nvSpPr>
          <p:cNvPr id="6" name="Step number 1"/>
          <p:cNvSpPr/>
          <p:nvPr/>
        </p:nvSpPr>
        <p:spPr>
          <a:xfrm>
            <a:off x="5212080" y="1435608"/>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7" name="Step text 1"/>
          <p:cNvSpPr txBox="1"/>
          <p:nvPr/>
        </p:nvSpPr>
        <p:spPr>
          <a:xfrm>
            <a:off x="5760720" y="1298448"/>
            <a:ext cx="2743200" cy="640080"/>
          </a:xfrm>
          <a:prstGeom prst="rect">
            <a:avLst/>
          </a:prstGeom>
          <a:noFill/>
          <a:ln/>
        </p:spPr>
        <p:txBody>
          <a:bodyPr wrap="square" lIns="0" tIns="0" rIns="0" bIns="0" rtlCol="0" anchor="ctr"/>
          <a:lstStyle/>
          <a:p>
            <a:pPr indent="0" marL="0">
              <a:buNone/>
            </a:pPr>
            <a:r>
              <a:rPr lang="en-US" sz="1400" b="1" dirty="0">
                <a:solidFill>
                  <a:schemeClr val="accent2"/>
                </a:solidFill>
              </a:rPr>
              <a:t>Start</a:t>
            </a:r>
            <a:endParaRPr lang="en-US" sz="1400" dirty="0"/>
          </a:p>
          <a:p>
            <a:pPr indent="0" marL="0">
              <a:buNone/>
            </a:pPr>
            <a:r>
              <a:rPr lang="en-US" sz="1200" dirty="0">
                <a:solidFill>
                  <a:schemeClr val="bg1"/>
                </a:solidFill>
              </a:rPr>
              <a:t>Pick any vertex as the root of the tree</a:t>
            </a:r>
            <a:endParaRPr lang="en-US" sz="1400" dirty="0"/>
          </a:p>
        </p:txBody>
      </p:sp>
      <p:sp>
        <p:nvSpPr>
          <p:cNvPr id="8" name="Step number 2"/>
          <p:cNvSpPr/>
          <p:nvPr/>
        </p:nvSpPr>
        <p:spPr>
          <a:xfrm>
            <a:off x="5212080" y="2148840"/>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9" name="Step text 2"/>
          <p:cNvSpPr txBox="1"/>
          <p:nvPr/>
        </p:nvSpPr>
        <p:spPr>
          <a:xfrm>
            <a:off x="5760720" y="2011680"/>
            <a:ext cx="2743200" cy="640080"/>
          </a:xfrm>
          <a:prstGeom prst="rect">
            <a:avLst/>
          </a:prstGeom>
          <a:noFill/>
          <a:ln/>
        </p:spPr>
        <p:txBody>
          <a:bodyPr wrap="square" lIns="0" tIns="0" rIns="0" bIns="0" rtlCol="0" anchor="ctr"/>
          <a:lstStyle/>
          <a:p>
            <a:pPr indent="0" marL="0">
              <a:buNone/>
            </a:pPr>
            <a:r>
              <a:rPr lang="en-US" sz="1400" b="1" dirty="0">
                <a:solidFill>
                  <a:schemeClr val="accent2"/>
                </a:solidFill>
              </a:rPr>
              <a:t>Select</a:t>
            </a:r>
            <a:endParaRPr lang="en-US" sz="1400" dirty="0"/>
          </a:p>
          <a:p>
            <a:pPr indent="0" marL="0">
              <a:buNone/>
            </a:pPr>
            <a:r>
              <a:rPr lang="en-US" sz="1200" dirty="0">
                <a:solidFill>
                  <a:schemeClr val="bg1"/>
                </a:solidFill>
              </a:rPr>
              <a:t>Choose the cheapest edge joining the tree to a new vertex</a:t>
            </a:r>
            <a:endParaRPr lang="en-US" sz="1400" dirty="0"/>
          </a:p>
        </p:txBody>
      </p:sp>
      <p:sp>
        <p:nvSpPr>
          <p:cNvPr id="10" name="Step number 3"/>
          <p:cNvSpPr/>
          <p:nvPr/>
        </p:nvSpPr>
        <p:spPr>
          <a:xfrm>
            <a:off x="5212080" y="2862072"/>
            <a:ext cx="365760" cy="3657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1" name="Step text 3"/>
          <p:cNvSpPr txBox="1"/>
          <p:nvPr/>
        </p:nvSpPr>
        <p:spPr>
          <a:xfrm>
            <a:off x="5760720" y="2724912"/>
            <a:ext cx="2743200" cy="640080"/>
          </a:xfrm>
          <a:prstGeom prst="rect">
            <a:avLst/>
          </a:prstGeom>
          <a:noFill/>
          <a:ln/>
        </p:spPr>
        <p:txBody>
          <a:bodyPr wrap="square" lIns="0" tIns="0" rIns="0" bIns="0" rtlCol="0" anchor="ctr"/>
          <a:lstStyle/>
          <a:p>
            <a:pPr indent="0" marL="0">
              <a:buNone/>
            </a:pPr>
            <a:r>
              <a:rPr lang="en-US" sz="1400" b="1" dirty="0">
                <a:solidFill>
                  <a:schemeClr val="accent2"/>
                </a:solidFill>
              </a:rPr>
              <a:t>Repeat</a:t>
            </a:r>
            <a:endParaRPr lang="en-US" sz="1400" dirty="0"/>
          </a:p>
          <a:p>
            <a:pPr indent="0" marL="0">
              <a:buNone/>
            </a:pPr>
            <a:r>
              <a:rPr lang="en-US" sz="1200" dirty="0">
                <a:solidFill>
                  <a:schemeClr val="bg1"/>
                </a:solidFill>
              </a:rPr>
              <a:t>Add it, and stop after V − 1 edges</a:t>
            </a:r>
            <a:endParaRPr lang="en-US" sz="1400" dirty="0"/>
          </a:p>
        </p:txBody>
      </p:sp>
      <p:sp>
        <p:nvSpPr>
          <p:cNvPr id="12" name="Applications label"/>
          <p:cNvSpPr txBox="1"/>
          <p:nvPr/>
        </p:nvSpPr>
        <p:spPr>
          <a:xfrm>
            <a:off x="457200" y="3639312"/>
            <a:ext cx="2743200" cy="201168"/>
          </a:xfrm>
          <a:prstGeom prst="rect">
            <a:avLst/>
          </a:prstGeom>
          <a:noFill/>
          <a:ln/>
        </p:spPr>
        <p:txBody>
          <a:bodyPr wrap="square" lIns="0" tIns="0" rIns="0" bIns="0" rtlCol="0" anchor="ctr"/>
          <a:lstStyle/>
          <a:p>
            <a:pPr indent="0" marL="0">
              <a:buNone/>
            </a:pPr>
            <a:r>
              <a:rPr lang="en-US" sz="1000" b="1" spc="200" kern="0" dirty="0">
                <a:solidFill>
                  <a:schemeClr val="accent2"/>
                </a:solidFill>
              </a:rPr>
              <a:t>APPLICATIONS</a:t>
            </a:r>
            <a:endParaRPr lang="en-US" sz="1000" dirty="0"/>
          </a:p>
        </p:txBody>
      </p:sp>
      <p:sp>
        <p:nvSpPr>
          <p:cNvPr id="13" name="Application 1"/>
          <p:cNvSpPr/>
          <p:nvPr/>
        </p:nvSpPr>
        <p:spPr>
          <a:xfrm>
            <a:off x="457200" y="3913632"/>
            <a:ext cx="1920240" cy="411480"/>
          </a:xfrm>
          <a:prstGeom prst="roundRect">
            <a:avLst>
              <a:gd name="adj" fmla="val 17778"/>
            </a:avLst>
          </a:prstGeom>
          <a:solidFill>
            <a:schemeClr val="accent1"/>
          </a:solidFill>
          <a:ln/>
        </p:spPr>
        <p:txBody>
          <a:bodyPr wrap="square" lIns="0" tIns="0" rIns="0" bIns="0" rtlCol="0" anchor="ctr"/>
          <a:lstStyle/>
          <a:p>
            <a:pPr algn="ctr" indent="0" marL="0">
              <a:buNone/>
            </a:pPr>
            <a:r>
              <a:rPr lang="en-US" sz="1200" b="1" dirty="0">
                <a:solidFill>
                  <a:schemeClr val="bg1"/>
                </a:solidFill>
              </a:rPr>
              <a:t>Network design</a:t>
            </a:r>
            <a:endParaRPr lang="en-US" sz="1200" dirty="0"/>
          </a:p>
        </p:txBody>
      </p:sp>
      <p:sp>
        <p:nvSpPr>
          <p:cNvPr id="14" name="Application 2"/>
          <p:cNvSpPr/>
          <p:nvPr/>
        </p:nvSpPr>
        <p:spPr>
          <a:xfrm>
            <a:off x="2560320" y="3913632"/>
            <a:ext cx="1920240" cy="411480"/>
          </a:xfrm>
          <a:prstGeom prst="roundRect">
            <a:avLst>
              <a:gd name="adj" fmla="val 17778"/>
            </a:avLst>
          </a:prstGeom>
          <a:solidFill>
            <a:schemeClr val="accent1"/>
          </a:solidFill>
          <a:ln/>
        </p:spPr>
        <p:txBody>
          <a:bodyPr wrap="square" lIns="0" tIns="0" rIns="0" bIns="0" rtlCol="0" anchor="ctr"/>
          <a:lstStyle/>
          <a:p>
            <a:pPr algn="ctr" indent="0" marL="0">
              <a:buNone/>
            </a:pPr>
            <a:r>
              <a:rPr lang="en-US" sz="1200" b="1" dirty="0">
                <a:solidFill>
                  <a:schemeClr val="bg1"/>
                </a:solidFill>
              </a:rPr>
              <a:t>Road &amp; cable layout</a:t>
            </a:r>
            <a:endParaRPr lang="en-US" sz="1200" dirty="0"/>
          </a:p>
        </p:txBody>
      </p:sp>
      <p:sp>
        <p:nvSpPr>
          <p:cNvPr id="15" name="Application 3"/>
          <p:cNvSpPr/>
          <p:nvPr/>
        </p:nvSpPr>
        <p:spPr>
          <a:xfrm>
            <a:off x="4663440" y="3913632"/>
            <a:ext cx="1920240" cy="411480"/>
          </a:xfrm>
          <a:prstGeom prst="roundRect">
            <a:avLst>
              <a:gd name="adj" fmla="val 17778"/>
            </a:avLst>
          </a:prstGeom>
          <a:solidFill>
            <a:schemeClr val="accent1"/>
          </a:solidFill>
          <a:ln/>
        </p:spPr>
        <p:txBody>
          <a:bodyPr wrap="square" lIns="0" tIns="0" rIns="0" bIns="0" rtlCol="0" anchor="ctr"/>
          <a:lstStyle/>
          <a:p>
            <a:pPr algn="ctr" indent="0" marL="0">
              <a:buNone/>
            </a:pPr>
            <a:r>
              <a:rPr lang="en-US" sz="1200" b="1" dirty="0">
                <a:solidFill>
                  <a:schemeClr val="bg1"/>
                </a:solidFill>
              </a:rPr>
              <a:t>Clustering</a:t>
            </a:r>
            <a:endParaRPr lang="en-US" sz="1200" dirty="0"/>
          </a:p>
        </p:txBody>
      </p:sp>
      <p:sp>
        <p:nvSpPr>
          <p:cNvPr id="16" name="Application 4"/>
          <p:cNvSpPr/>
          <p:nvPr/>
        </p:nvSpPr>
        <p:spPr>
          <a:xfrm>
            <a:off x="6766560" y="3913632"/>
            <a:ext cx="1920240" cy="411480"/>
          </a:xfrm>
          <a:prstGeom prst="roundRect">
            <a:avLst>
              <a:gd name="adj" fmla="val 17778"/>
            </a:avLst>
          </a:prstGeom>
          <a:solidFill>
            <a:schemeClr val="accent1"/>
          </a:solidFill>
          <a:ln/>
        </p:spPr>
        <p:txBody>
          <a:bodyPr wrap="square" lIns="0" tIns="0" rIns="0" bIns="0" rtlCol="0" anchor="ctr"/>
          <a:lstStyle/>
          <a:p>
            <a:pPr algn="ctr" indent="0" marL="0">
              <a:buNone/>
            </a:pPr>
            <a:r>
              <a:rPr lang="en-US" sz="1200" b="1" dirty="0">
                <a:solidFill>
                  <a:schemeClr val="bg1"/>
                </a:solidFill>
              </a:rPr>
              <a:t>Approximating TSP</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bg1"/>
                </a:solidFill>
              </a:rPr>
              <a:t>Algorithm: Growing the Tree</a:t>
            </a:r>
            <a:endParaRPr lang="en-US" sz="2600" dirty="0"/>
          </a:p>
        </p:txBody>
      </p:sp>
      <p:sp>
        <p:nvSpPr>
          <p:cNvPr id="3" name="Caption"/>
          <p:cNvSpPr txBox="1"/>
          <p:nvPr/>
        </p:nvSpPr>
        <p:spPr>
          <a:xfrm>
            <a:off x="457200" y="804672"/>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Always take the lightest edge leaving the tree  |  blue vertex = start (A)</a:t>
            </a:r>
            <a:endParaRPr lang="en-US" sz="1200" dirty="0"/>
          </a:p>
        </p:txBody>
      </p:sp>
      <p:sp>
        <p:nvSpPr>
          <p:cNvPr id="4" name="Algorithm card"/>
          <p:cNvSpPr/>
          <p:nvPr/>
        </p:nvSpPr>
        <p:spPr>
          <a:xfrm>
            <a:off x="457200" y="1188720"/>
            <a:ext cx="4480560" cy="2651760"/>
          </a:xfrm>
          <a:prstGeom prst="roundRect">
            <a:avLst>
              <a:gd name="adj" fmla="val 2759"/>
            </a:avLst>
          </a:prstGeom>
          <a:solidFill>
            <a:schemeClr val="tx2"/>
          </a:solidFill>
          <a:ln w="9525">
            <a:solidFill>
              <a:schemeClr val="accent3"/>
            </a:solidFill>
            <a:prstDash val="solid"/>
          </a:ln>
        </p:spPr>
      </p:sp>
      <p:sp>
        <p:nvSpPr>
          <p:cNvPr id="5" name="Algorithm label"/>
          <p:cNvSpPr txBox="1"/>
          <p:nvPr/>
        </p:nvSpPr>
        <p:spPr>
          <a:xfrm>
            <a:off x="640080" y="1280160"/>
            <a:ext cx="4114800" cy="274320"/>
          </a:xfrm>
          <a:prstGeom prst="rect">
            <a:avLst/>
          </a:prstGeom>
          <a:noFill/>
          <a:ln/>
        </p:spPr>
        <p:txBody>
          <a:bodyPr wrap="square" lIns="0" tIns="0" rIns="0" bIns="0" rtlCol="0" anchor="ctr"/>
          <a:lstStyle/>
          <a:p>
            <a:pPr indent="0" marL="0">
              <a:buNone/>
            </a:pPr>
            <a:r>
              <a:rPr lang="en-US" sz="1200" b="1" dirty="0">
                <a:solidFill>
                  <a:schemeClr val="accent2"/>
                </a:solidFill>
              </a:rPr>
              <a:t>Algorithm  Prim(G, s)</a:t>
            </a:r>
            <a:endParaRPr lang="en-US" sz="1200" dirty="0"/>
          </a:p>
        </p:txBody>
      </p:sp>
      <p:sp>
        <p:nvSpPr>
          <p:cNvPr id="6" name="Pseudocode"/>
          <p:cNvSpPr txBox="1"/>
          <p:nvPr/>
        </p:nvSpPr>
        <p:spPr>
          <a:xfrm>
            <a:off x="640080" y="1645920"/>
            <a:ext cx="4206240" cy="2011680"/>
          </a:xfrm>
          <a:prstGeom prst="rect">
            <a:avLst/>
          </a:prstGeom>
          <a:noFill/>
          <a:ln/>
        </p:spPr>
        <p:txBody>
          <a:bodyPr wrap="square" lIns="0" tIns="0" rIns="0" bIns="0" rtlCol="0" anchor="t"/>
          <a:lstStyle/>
          <a:p>
            <a:pPr indent="0" marL="0">
              <a:spcAft>
                <a:spcPts val="400"/>
              </a:spcAft>
              <a:buNone/>
            </a:pPr>
            <a:r>
              <a:rPr lang="en-US" sz="1200" dirty="0">
                <a:solidFill>
                  <a:schemeClr val="bg1"/>
                </a:solidFill>
                <a:latin typeface="Courier New" pitchFamily="34" charset="0"/>
                <a:ea typeface="Courier New" pitchFamily="34" charset="-122"/>
                <a:cs typeface="Courier New" pitchFamily="34" charset="-120"/>
              </a:rPr>
              <a:t>1. key[v] = INF for all v; key[s] = 0</a:t>
            </a:r>
            <a:endParaRPr lang="en-US" sz="1200" dirty="0"/>
          </a:p>
          <a:p>
            <a:pPr indent="0" marL="0">
              <a:spcAft>
                <a:spcPts val="400"/>
              </a:spcAft>
              <a:buNone/>
            </a:pPr>
            <a:r>
              <a:rPr lang="en-US" sz="1200" dirty="0">
                <a:solidFill>
                  <a:schemeClr val="bg1"/>
                </a:solidFill>
                <a:latin typeface="Courier New" pitchFamily="34" charset="0"/>
                <a:ea typeface="Courier New" pitchFamily="34" charset="-122"/>
                <a:cs typeface="Courier New" pitchFamily="34" charset="-120"/>
              </a:rPr>
              <a:t>2. repeat V times:</a:t>
            </a:r>
            <a:endParaRPr lang="en-US" sz="1200" dirty="0"/>
          </a:p>
          <a:p>
            <a:pPr indent="0" marL="0">
              <a:spcAft>
                <a:spcPts val="400"/>
              </a:spcAft>
              <a:buNone/>
            </a:pPr>
            <a:r>
              <a:rPr lang="en-US" sz="1200" dirty="0">
                <a:solidFill>
                  <a:schemeClr val="bg1"/>
                </a:solidFill>
                <a:latin typeface="Courier New" pitchFamily="34" charset="0"/>
                <a:ea typeface="Courier New" pitchFamily="34" charset="-122"/>
                <a:cs typeface="Courier New" pitchFamily="34" charset="-120"/>
              </a:rPr>
              <a:t>3.   u = unvisited vertex, min key</a:t>
            </a:r>
            <a:endParaRPr lang="en-US" sz="1200" dirty="0"/>
          </a:p>
          <a:p>
            <a:pPr indent="0" marL="0">
              <a:spcAft>
                <a:spcPts val="400"/>
              </a:spcAft>
              <a:buNone/>
            </a:pPr>
            <a:r>
              <a:rPr lang="en-US" sz="1200" dirty="0">
                <a:solidFill>
                  <a:schemeClr val="bg1"/>
                </a:solidFill>
                <a:latin typeface="Courier New" pitchFamily="34" charset="0"/>
                <a:ea typeface="Courier New" pitchFamily="34" charset="-122"/>
                <a:cs typeface="Courier New" pitchFamily="34" charset="-120"/>
              </a:rPr>
              <a:t>4.   add u to the MST</a:t>
            </a:r>
            <a:endParaRPr lang="en-US" sz="1200" dirty="0"/>
          </a:p>
          <a:p>
            <a:pPr indent="0" marL="0">
              <a:spcAft>
                <a:spcPts val="400"/>
              </a:spcAft>
              <a:buNone/>
            </a:pPr>
            <a:r>
              <a:rPr lang="en-US" sz="1200" dirty="0">
                <a:solidFill>
                  <a:schemeClr val="bg1"/>
                </a:solidFill>
                <a:latin typeface="Courier New" pitchFamily="34" charset="0"/>
                <a:ea typeface="Courier New" pitchFamily="34" charset="-122"/>
                <a:cs typeface="Courier New" pitchFamily="34" charset="-120"/>
              </a:rPr>
              <a:t>5.   for each neighbour v of u:</a:t>
            </a:r>
            <a:endParaRPr lang="en-US" sz="1200" dirty="0"/>
          </a:p>
          <a:p>
            <a:pPr indent="0" marL="0">
              <a:spcAft>
                <a:spcPts val="400"/>
              </a:spcAft>
              <a:buNone/>
            </a:pPr>
            <a:r>
              <a:rPr lang="en-US" sz="1200" dirty="0">
                <a:solidFill>
                  <a:schemeClr val="bg1"/>
                </a:solidFill>
                <a:latin typeface="Courier New" pitchFamily="34" charset="0"/>
                <a:ea typeface="Courier New" pitchFamily="34" charset="-122"/>
                <a:cs typeface="Courier New" pitchFamily="34" charset="-120"/>
              </a:rPr>
              <a:t>6.     if v unvisited and w(u,v)&lt;key[v]:</a:t>
            </a:r>
            <a:endParaRPr lang="en-US" sz="1200" dirty="0"/>
          </a:p>
          <a:p>
            <a:pPr indent="0" marL="0">
              <a:spcAft>
                <a:spcPts val="400"/>
              </a:spcAft>
              <a:buNone/>
            </a:pPr>
            <a:r>
              <a:rPr lang="en-US" sz="1200" dirty="0">
                <a:solidFill>
                  <a:schemeClr val="bg1"/>
                </a:solidFill>
                <a:latin typeface="Courier New" pitchFamily="34" charset="0"/>
                <a:ea typeface="Courier New" pitchFamily="34" charset="-122"/>
                <a:cs typeface="Courier New" pitchFamily="34" charset="-120"/>
              </a:rPr>
              <a:t>7.       key[v] = w(u,v); parent[v] = u</a:t>
            </a:r>
            <a:endParaRPr lang="en-US" sz="1200" dirty="0"/>
          </a:p>
        </p:txBody>
      </p:sp>
      <p:sp>
        <p:nvSpPr>
          <p:cNvPr id="7" name="Graph card"/>
          <p:cNvSpPr/>
          <p:nvPr/>
        </p:nvSpPr>
        <p:spPr>
          <a:xfrm>
            <a:off x="5120640" y="1188720"/>
            <a:ext cx="3566160" cy="2651760"/>
          </a:xfrm>
          <a:prstGeom prst="roundRect">
            <a:avLst>
              <a:gd name="adj" fmla="val 2759"/>
            </a:avLst>
          </a:prstGeom>
          <a:solidFill>
            <a:schemeClr val="tx2"/>
          </a:solidFill>
          <a:ln w="9525">
            <a:solidFill>
              <a:schemeClr val="accent3"/>
            </a:solidFill>
            <a:prstDash val="solid"/>
          </a:ln>
        </p:spPr>
      </p:sp>
      <p:sp>
        <p:nvSpPr>
          <p:cNvPr id="8" name="Edge A-B"/>
          <p:cNvSpPr/>
          <p:nvPr/>
        </p:nvSpPr>
        <p:spPr>
          <a:xfrm flipV="1">
            <a:off x="5486400" y="1600200"/>
            <a:ext cx="850392" cy="754380"/>
          </a:xfrm>
          <a:prstGeom prst="line">
            <a:avLst/>
          </a:prstGeom>
          <a:noFill/>
          <a:ln w="19050">
            <a:solidFill>
              <a:schemeClr val="bg2"/>
            </a:solidFill>
            <a:prstDash val="solid"/>
          </a:ln>
        </p:spPr>
      </p:sp>
      <p:sp>
        <p:nvSpPr>
          <p:cNvPr id="9" name="Edge A-C"/>
          <p:cNvSpPr/>
          <p:nvPr/>
        </p:nvSpPr>
        <p:spPr>
          <a:xfrm>
            <a:off x="5486400" y="2354580"/>
            <a:ext cx="850392" cy="754380"/>
          </a:xfrm>
          <a:prstGeom prst="line">
            <a:avLst/>
          </a:prstGeom>
          <a:noFill/>
          <a:ln w="19050">
            <a:solidFill>
              <a:schemeClr val="bg2"/>
            </a:solidFill>
            <a:prstDash val="solid"/>
          </a:ln>
        </p:spPr>
      </p:sp>
      <p:sp>
        <p:nvSpPr>
          <p:cNvPr id="10" name="Edge B-C"/>
          <p:cNvSpPr/>
          <p:nvPr/>
        </p:nvSpPr>
        <p:spPr>
          <a:xfrm>
            <a:off x="6336792" y="1600200"/>
            <a:ext cx="0" cy="1508760"/>
          </a:xfrm>
          <a:prstGeom prst="line">
            <a:avLst/>
          </a:prstGeom>
          <a:noFill/>
          <a:ln w="19050">
            <a:solidFill>
              <a:schemeClr val="bg2"/>
            </a:solidFill>
            <a:prstDash val="solid"/>
          </a:ln>
        </p:spPr>
      </p:sp>
      <p:sp>
        <p:nvSpPr>
          <p:cNvPr id="11" name="Edge B-D"/>
          <p:cNvSpPr/>
          <p:nvPr/>
        </p:nvSpPr>
        <p:spPr>
          <a:xfrm>
            <a:off x="6336792" y="1600200"/>
            <a:ext cx="1133856" cy="0"/>
          </a:xfrm>
          <a:prstGeom prst="line">
            <a:avLst/>
          </a:prstGeom>
          <a:noFill/>
          <a:ln w="19050">
            <a:solidFill>
              <a:schemeClr val="bg2"/>
            </a:solidFill>
            <a:prstDash val="solid"/>
          </a:ln>
        </p:spPr>
      </p:sp>
      <p:sp>
        <p:nvSpPr>
          <p:cNvPr id="12" name="Edge C-D"/>
          <p:cNvSpPr/>
          <p:nvPr/>
        </p:nvSpPr>
        <p:spPr>
          <a:xfrm flipV="1">
            <a:off x="6336792" y="1600200"/>
            <a:ext cx="1133856" cy="1508760"/>
          </a:xfrm>
          <a:prstGeom prst="line">
            <a:avLst/>
          </a:prstGeom>
          <a:noFill/>
          <a:ln w="19050">
            <a:solidFill>
              <a:schemeClr val="bg2"/>
            </a:solidFill>
            <a:prstDash val="solid"/>
          </a:ln>
        </p:spPr>
      </p:sp>
      <p:sp>
        <p:nvSpPr>
          <p:cNvPr id="13" name="Edge C-E"/>
          <p:cNvSpPr/>
          <p:nvPr/>
        </p:nvSpPr>
        <p:spPr>
          <a:xfrm>
            <a:off x="6336792" y="3108960"/>
            <a:ext cx="1133856" cy="0"/>
          </a:xfrm>
          <a:prstGeom prst="line">
            <a:avLst/>
          </a:prstGeom>
          <a:noFill/>
          <a:ln w="19050">
            <a:solidFill>
              <a:schemeClr val="bg2"/>
            </a:solidFill>
            <a:prstDash val="solid"/>
          </a:ln>
        </p:spPr>
      </p:sp>
      <p:sp>
        <p:nvSpPr>
          <p:cNvPr id="14" name="Edge D-E"/>
          <p:cNvSpPr/>
          <p:nvPr/>
        </p:nvSpPr>
        <p:spPr>
          <a:xfrm>
            <a:off x="7470648" y="1600200"/>
            <a:ext cx="0" cy="1508760"/>
          </a:xfrm>
          <a:prstGeom prst="line">
            <a:avLst/>
          </a:prstGeom>
          <a:noFill/>
          <a:ln w="19050">
            <a:solidFill>
              <a:schemeClr val="bg2"/>
            </a:solidFill>
            <a:prstDash val="solid"/>
          </a:ln>
        </p:spPr>
      </p:sp>
      <p:sp>
        <p:nvSpPr>
          <p:cNvPr id="15" name="Edge D-F"/>
          <p:cNvSpPr/>
          <p:nvPr/>
        </p:nvSpPr>
        <p:spPr>
          <a:xfrm>
            <a:off x="7470648" y="1600200"/>
            <a:ext cx="850392" cy="754380"/>
          </a:xfrm>
          <a:prstGeom prst="line">
            <a:avLst/>
          </a:prstGeom>
          <a:noFill/>
          <a:ln w="19050">
            <a:solidFill>
              <a:schemeClr val="bg2"/>
            </a:solidFill>
            <a:prstDash val="solid"/>
          </a:ln>
        </p:spPr>
      </p:sp>
      <p:sp>
        <p:nvSpPr>
          <p:cNvPr id="16" name="Edge E-F"/>
          <p:cNvSpPr/>
          <p:nvPr/>
        </p:nvSpPr>
        <p:spPr>
          <a:xfrm flipV="1">
            <a:off x="7470648" y="2354580"/>
            <a:ext cx="850392" cy="754380"/>
          </a:xfrm>
          <a:prstGeom prst="line">
            <a:avLst/>
          </a:prstGeom>
          <a:noFill/>
          <a:ln w="19050">
            <a:solidFill>
              <a:schemeClr val="bg2"/>
            </a:solidFill>
            <a:prstDash val="solid"/>
          </a:ln>
        </p:spPr>
      </p:sp>
      <p:sp>
        <p:nvSpPr>
          <p:cNvPr id="17" name="Weight A-B"/>
          <p:cNvSpPr/>
          <p:nvPr/>
        </p:nvSpPr>
        <p:spPr>
          <a:xfrm>
            <a:off x="5765292" y="187680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18" name="Weight A-C"/>
          <p:cNvSpPr/>
          <p:nvPr/>
        </p:nvSpPr>
        <p:spPr>
          <a:xfrm>
            <a:off x="5765292" y="263118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19" name="Weight B-C"/>
          <p:cNvSpPr/>
          <p:nvPr/>
        </p:nvSpPr>
        <p:spPr>
          <a:xfrm>
            <a:off x="6190488" y="225399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0" name="Weight B-D"/>
          <p:cNvSpPr/>
          <p:nvPr/>
        </p:nvSpPr>
        <p:spPr>
          <a:xfrm>
            <a:off x="6757416" y="149961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21" name="Weight C-D"/>
          <p:cNvSpPr/>
          <p:nvPr/>
        </p:nvSpPr>
        <p:spPr>
          <a:xfrm>
            <a:off x="6757416" y="225399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22" name="Weight C-E"/>
          <p:cNvSpPr/>
          <p:nvPr/>
        </p:nvSpPr>
        <p:spPr>
          <a:xfrm>
            <a:off x="6757416" y="300837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10</a:t>
            </a:r>
            <a:endParaRPr lang="en-US" sz="1000" dirty="0"/>
          </a:p>
        </p:txBody>
      </p:sp>
      <p:sp>
        <p:nvSpPr>
          <p:cNvPr id="23" name="Weight D-E"/>
          <p:cNvSpPr/>
          <p:nvPr/>
        </p:nvSpPr>
        <p:spPr>
          <a:xfrm>
            <a:off x="7324344" y="225399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4" name="Weight D-F"/>
          <p:cNvSpPr/>
          <p:nvPr/>
        </p:nvSpPr>
        <p:spPr>
          <a:xfrm>
            <a:off x="7749540" y="187680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25" name="Weight E-F"/>
          <p:cNvSpPr/>
          <p:nvPr/>
        </p:nvSpPr>
        <p:spPr>
          <a:xfrm>
            <a:off x="7749540" y="263118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6" name="Vertex A"/>
          <p:cNvSpPr/>
          <p:nvPr/>
        </p:nvSpPr>
        <p:spPr>
          <a:xfrm>
            <a:off x="5285232" y="2153412"/>
            <a:ext cx="402336" cy="402336"/>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400" b="1" dirty="0">
                <a:solidFill>
                  <a:schemeClr val="tx1"/>
                </a:solidFill>
              </a:rPr>
              <a:t>A</a:t>
            </a:r>
            <a:endParaRPr lang="en-US" sz="1400" dirty="0"/>
          </a:p>
        </p:txBody>
      </p:sp>
      <p:sp>
        <p:nvSpPr>
          <p:cNvPr id="27" name="Vertex B"/>
          <p:cNvSpPr/>
          <p:nvPr/>
        </p:nvSpPr>
        <p:spPr>
          <a:xfrm>
            <a:off x="6135624" y="1399032"/>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8" name="Vertex C"/>
          <p:cNvSpPr/>
          <p:nvPr/>
        </p:nvSpPr>
        <p:spPr>
          <a:xfrm>
            <a:off x="6135624" y="2907792"/>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29" name="Vertex D"/>
          <p:cNvSpPr/>
          <p:nvPr/>
        </p:nvSpPr>
        <p:spPr>
          <a:xfrm>
            <a:off x="7269480" y="1399032"/>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30" name="Vertex E"/>
          <p:cNvSpPr/>
          <p:nvPr/>
        </p:nvSpPr>
        <p:spPr>
          <a:xfrm>
            <a:off x="7269480" y="2907792"/>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31" name="Vertex F"/>
          <p:cNvSpPr/>
          <p:nvPr/>
        </p:nvSpPr>
        <p:spPr>
          <a:xfrm>
            <a:off x="8119872" y="2153412"/>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32" name="Graph caption"/>
          <p:cNvSpPr txBox="1"/>
          <p:nvPr/>
        </p:nvSpPr>
        <p:spPr>
          <a:xfrm>
            <a:off x="5303520" y="3456432"/>
            <a:ext cx="3200400" cy="274320"/>
          </a:xfrm>
          <a:prstGeom prst="rect">
            <a:avLst/>
          </a:prstGeom>
          <a:noFill/>
          <a:ln/>
        </p:spPr>
        <p:txBody>
          <a:bodyPr wrap="square" lIns="0" tIns="0" rIns="0" bIns="0" rtlCol="0" anchor="ctr"/>
          <a:lstStyle/>
          <a:p>
            <a:pPr algn="ctr" indent="0" marL="0">
              <a:buNone/>
            </a:pPr>
            <a:r>
              <a:rPr lang="en-US" sz="1200" dirty="0">
                <a:solidFill>
                  <a:schemeClr val="bg2"/>
                </a:solidFill>
              </a:rPr>
              <a:t>Input graph  |  V = 6, E = 9</a:t>
            </a:r>
            <a:endParaRPr lang="en-US" sz="1200" dirty="0"/>
          </a:p>
        </p:txBody>
      </p:sp>
      <p:sp>
        <p:nvSpPr>
          <p:cNvPr id="33" name="Note box"/>
          <p:cNvSpPr/>
          <p:nvPr/>
        </p:nvSpPr>
        <p:spPr>
          <a:xfrm>
            <a:off x="457200" y="3977640"/>
            <a:ext cx="8229600" cy="548640"/>
          </a:xfrm>
          <a:prstGeom prst="roundRect">
            <a:avLst>
              <a:gd name="adj" fmla="val 13333"/>
            </a:avLst>
          </a:prstGeom>
          <a:solidFill>
            <a:schemeClr val="tx2"/>
          </a:solidFill>
          <a:ln w="12700">
            <a:solidFill>
              <a:schemeClr val="accent2"/>
            </a:solidFill>
            <a:prstDash val="solid"/>
          </a:ln>
        </p:spPr>
      </p:sp>
      <p:sp>
        <p:nvSpPr>
          <p:cNvPr id="34" name="Note text"/>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200" b="1" dirty="0">
                <a:solidFill>
                  <a:schemeClr val="accent2"/>
                </a:solidFill>
              </a:rPr>
              <a:t>Cut property:  </a:t>
            </a:r>
            <a:pPr indent="0" marL="0">
              <a:buNone/>
            </a:pPr>
            <a:r>
              <a:rPr lang="en-US" sz="1200" dirty="0">
                <a:solidFill>
                  <a:schemeClr val="bg1"/>
                </a:solidFill>
              </a:rPr>
              <a:t>for any cut, the lightest edge crossing it belongs to some MST, so every greedy pick is safe.</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bg1"/>
                </a:solidFill>
              </a:rPr>
              <a:t>Working: Step by Step</a:t>
            </a:r>
            <a:endParaRPr lang="en-US" sz="2600" dirty="0"/>
          </a:p>
        </p:txBody>
      </p:sp>
      <p:sp>
        <p:nvSpPr>
          <p:cNvPr id="3" name="Caption"/>
          <p:cNvSpPr txBox="1"/>
          <p:nvPr/>
        </p:nvSpPr>
        <p:spPr>
          <a:xfrm>
            <a:off x="457200" y="804672"/>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Start at A  |  Add the cheapest edge leaving the tree  |  5 steps for V = 6</a:t>
            </a:r>
            <a:endParaRPr lang="en-US" sz="1200" dirty="0"/>
          </a:p>
        </p:txBody>
      </p:sp>
      <p:sp>
        <p:nvSpPr>
          <p:cNvPr id="4" name="Step card 1"/>
          <p:cNvSpPr/>
          <p:nvPr/>
        </p:nvSpPr>
        <p:spPr>
          <a:xfrm>
            <a:off x="457200" y="1188720"/>
            <a:ext cx="4297680" cy="493776"/>
          </a:xfrm>
          <a:prstGeom prst="roundRect">
            <a:avLst>
              <a:gd name="adj" fmla="val 11111"/>
            </a:avLst>
          </a:prstGeom>
          <a:solidFill>
            <a:schemeClr val="tx2"/>
          </a:solidFill>
          <a:ln w="9525">
            <a:solidFill>
              <a:schemeClr val="accent3"/>
            </a:solidFill>
            <a:prstDash val="solid"/>
          </a:ln>
        </p:spPr>
      </p:sp>
      <p:sp>
        <p:nvSpPr>
          <p:cNvPr id="5" name="Step number 1"/>
          <p:cNvSpPr/>
          <p:nvPr/>
        </p:nvSpPr>
        <p:spPr>
          <a:xfrm>
            <a:off x="566928" y="1271016"/>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6" name="Step text 1"/>
          <p:cNvSpPr txBox="1"/>
          <p:nvPr/>
        </p:nvSpPr>
        <p:spPr>
          <a:xfrm>
            <a:off x="1005840" y="1188720"/>
            <a:ext cx="3657600" cy="493776"/>
          </a:xfrm>
          <a:prstGeom prst="rect">
            <a:avLst/>
          </a:prstGeom>
          <a:noFill/>
          <a:ln/>
        </p:spPr>
        <p:txBody>
          <a:bodyPr wrap="square" lIns="0" tIns="0" rIns="0" bIns="0" rtlCol="0" anchor="ctr"/>
          <a:lstStyle/>
          <a:p>
            <a:pPr indent="0" marL="0">
              <a:buNone/>
            </a:pPr>
            <a:r>
              <a:rPr lang="en-US" sz="1200" b="1" dirty="0">
                <a:solidFill>
                  <a:schemeClr val="bg1"/>
                </a:solidFill>
              </a:rPr>
              <a:t>Add C with edge A–C (weight 2)</a:t>
            </a:r>
            <a:endParaRPr lang="en-US" sz="1200" dirty="0"/>
          </a:p>
          <a:p>
            <a:pPr indent="0" marL="0">
              <a:buNone/>
            </a:pPr>
            <a:r>
              <a:rPr lang="en-US" sz="1100" dirty="0">
                <a:solidFill>
                  <a:schemeClr val="bg2"/>
                </a:solidFill>
              </a:rPr>
              <a:t>Tree: {A, C}</a:t>
            </a:r>
            <a:endParaRPr lang="en-US" sz="1200" dirty="0"/>
          </a:p>
        </p:txBody>
      </p:sp>
      <p:sp>
        <p:nvSpPr>
          <p:cNvPr id="7" name="Step card 2"/>
          <p:cNvSpPr/>
          <p:nvPr/>
        </p:nvSpPr>
        <p:spPr>
          <a:xfrm>
            <a:off x="457200" y="1737360"/>
            <a:ext cx="4297680" cy="493776"/>
          </a:xfrm>
          <a:prstGeom prst="roundRect">
            <a:avLst>
              <a:gd name="adj" fmla="val 11111"/>
            </a:avLst>
          </a:prstGeom>
          <a:solidFill>
            <a:schemeClr val="tx2"/>
          </a:solidFill>
          <a:ln w="9525">
            <a:solidFill>
              <a:schemeClr val="accent3"/>
            </a:solidFill>
            <a:prstDash val="solid"/>
          </a:ln>
        </p:spPr>
      </p:sp>
      <p:sp>
        <p:nvSpPr>
          <p:cNvPr id="8" name="Step number 2"/>
          <p:cNvSpPr/>
          <p:nvPr/>
        </p:nvSpPr>
        <p:spPr>
          <a:xfrm>
            <a:off x="566928" y="1819656"/>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9" name="Step text 2"/>
          <p:cNvSpPr txBox="1"/>
          <p:nvPr/>
        </p:nvSpPr>
        <p:spPr>
          <a:xfrm>
            <a:off x="1005840" y="1737360"/>
            <a:ext cx="3657600" cy="493776"/>
          </a:xfrm>
          <a:prstGeom prst="rect">
            <a:avLst/>
          </a:prstGeom>
          <a:noFill/>
          <a:ln/>
        </p:spPr>
        <p:txBody>
          <a:bodyPr wrap="square" lIns="0" tIns="0" rIns="0" bIns="0" rtlCol="0" anchor="ctr"/>
          <a:lstStyle/>
          <a:p>
            <a:pPr indent="0" marL="0">
              <a:buNone/>
            </a:pPr>
            <a:r>
              <a:rPr lang="en-US" sz="1200" b="1" dirty="0">
                <a:solidFill>
                  <a:schemeClr val="bg1"/>
                </a:solidFill>
              </a:rPr>
              <a:t>Add B with edge C–B (weight 1)</a:t>
            </a:r>
            <a:endParaRPr lang="en-US" sz="1200" dirty="0"/>
          </a:p>
          <a:p>
            <a:pPr indent="0" marL="0">
              <a:buNone/>
            </a:pPr>
            <a:r>
              <a:rPr lang="en-US" sz="1100" dirty="0">
                <a:solidFill>
                  <a:schemeClr val="bg2"/>
                </a:solidFill>
              </a:rPr>
              <a:t>Tree: {A, C, B}</a:t>
            </a:r>
            <a:endParaRPr lang="en-US" sz="1200" dirty="0"/>
          </a:p>
        </p:txBody>
      </p:sp>
      <p:sp>
        <p:nvSpPr>
          <p:cNvPr id="10" name="Step card 3"/>
          <p:cNvSpPr/>
          <p:nvPr/>
        </p:nvSpPr>
        <p:spPr>
          <a:xfrm>
            <a:off x="457200" y="2286000"/>
            <a:ext cx="4297680" cy="493776"/>
          </a:xfrm>
          <a:prstGeom prst="roundRect">
            <a:avLst>
              <a:gd name="adj" fmla="val 11111"/>
            </a:avLst>
          </a:prstGeom>
          <a:solidFill>
            <a:schemeClr val="tx2"/>
          </a:solidFill>
          <a:ln w="9525">
            <a:solidFill>
              <a:schemeClr val="accent3"/>
            </a:solidFill>
            <a:prstDash val="solid"/>
          </a:ln>
        </p:spPr>
      </p:sp>
      <p:sp>
        <p:nvSpPr>
          <p:cNvPr id="11" name="Step number 3"/>
          <p:cNvSpPr/>
          <p:nvPr/>
        </p:nvSpPr>
        <p:spPr>
          <a:xfrm>
            <a:off x="566928" y="2368296"/>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2" name="Step text 3"/>
          <p:cNvSpPr txBox="1"/>
          <p:nvPr/>
        </p:nvSpPr>
        <p:spPr>
          <a:xfrm>
            <a:off x="1005840" y="2286000"/>
            <a:ext cx="3657600" cy="493776"/>
          </a:xfrm>
          <a:prstGeom prst="rect">
            <a:avLst/>
          </a:prstGeom>
          <a:noFill/>
          <a:ln/>
        </p:spPr>
        <p:txBody>
          <a:bodyPr wrap="square" lIns="0" tIns="0" rIns="0" bIns="0" rtlCol="0" anchor="ctr"/>
          <a:lstStyle/>
          <a:p>
            <a:pPr indent="0" marL="0">
              <a:buNone/>
            </a:pPr>
            <a:r>
              <a:rPr lang="en-US" sz="1200" b="1" dirty="0">
                <a:solidFill>
                  <a:schemeClr val="bg1"/>
                </a:solidFill>
              </a:rPr>
              <a:t>Add D with edge B–D (weight 5)</a:t>
            </a:r>
            <a:endParaRPr lang="en-US" sz="1200" dirty="0"/>
          </a:p>
          <a:p>
            <a:pPr indent="0" marL="0">
              <a:buNone/>
            </a:pPr>
            <a:r>
              <a:rPr lang="en-US" sz="1100" dirty="0">
                <a:solidFill>
                  <a:schemeClr val="bg2"/>
                </a:solidFill>
              </a:rPr>
              <a:t>Tree: {A, C, B, D}</a:t>
            </a:r>
            <a:endParaRPr lang="en-US" sz="1200" dirty="0"/>
          </a:p>
        </p:txBody>
      </p:sp>
      <p:sp>
        <p:nvSpPr>
          <p:cNvPr id="13" name="Step card 4"/>
          <p:cNvSpPr/>
          <p:nvPr/>
        </p:nvSpPr>
        <p:spPr>
          <a:xfrm>
            <a:off x="457200" y="2834640"/>
            <a:ext cx="4297680" cy="493776"/>
          </a:xfrm>
          <a:prstGeom prst="roundRect">
            <a:avLst>
              <a:gd name="adj" fmla="val 11111"/>
            </a:avLst>
          </a:prstGeom>
          <a:solidFill>
            <a:schemeClr val="tx2"/>
          </a:solidFill>
          <a:ln w="9525">
            <a:solidFill>
              <a:schemeClr val="accent3"/>
            </a:solidFill>
            <a:prstDash val="solid"/>
          </a:ln>
        </p:spPr>
      </p:sp>
      <p:sp>
        <p:nvSpPr>
          <p:cNvPr id="14" name="Step number 4"/>
          <p:cNvSpPr/>
          <p:nvPr/>
        </p:nvSpPr>
        <p:spPr>
          <a:xfrm>
            <a:off x="566928" y="2916936"/>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15" name="Step text 4"/>
          <p:cNvSpPr txBox="1"/>
          <p:nvPr/>
        </p:nvSpPr>
        <p:spPr>
          <a:xfrm>
            <a:off x="1005840" y="2834640"/>
            <a:ext cx="3657600" cy="493776"/>
          </a:xfrm>
          <a:prstGeom prst="rect">
            <a:avLst/>
          </a:prstGeom>
          <a:noFill/>
          <a:ln/>
        </p:spPr>
        <p:txBody>
          <a:bodyPr wrap="square" lIns="0" tIns="0" rIns="0" bIns="0" rtlCol="0" anchor="ctr"/>
          <a:lstStyle/>
          <a:p>
            <a:pPr indent="0" marL="0">
              <a:buNone/>
            </a:pPr>
            <a:r>
              <a:rPr lang="en-US" sz="1200" b="1" dirty="0">
                <a:solidFill>
                  <a:schemeClr val="bg1"/>
                </a:solidFill>
              </a:rPr>
              <a:t>Add E with edge D–E (weight 2)</a:t>
            </a:r>
            <a:endParaRPr lang="en-US" sz="1200" dirty="0"/>
          </a:p>
          <a:p>
            <a:pPr indent="0" marL="0">
              <a:buNone/>
            </a:pPr>
            <a:r>
              <a:rPr lang="en-US" sz="1100" dirty="0">
                <a:solidFill>
                  <a:schemeClr val="bg2"/>
                </a:solidFill>
              </a:rPr>
              <a:t>Tree: {A, C, B, D, E}</a:t>
            </a:r>
            <a:endParaRPr lang="en-US" sz="1200" dirty="0"/>
          </a:p>
        </p:txBody>
      </p:sp>
      <p:sp>
        <p:nvSpPr>
          <p:cNvPr id="16" name="Step card 5"/>
          <p:cNvSpPr/>
          <p:nvPr/>
        </p:nvSpPr>
        <p:spPr>
          <a:xfrm>
            <a:off x="457200" y="3383280"/>
            <a:ext cx="4297680" cy="493776"/>
          </a:xfrm>
          <a:prstGeom prst="roundRect">
            <a:avLst>
              <a:gd name="adj" fmla="val 11111"/>
            </a:avLst>
          </a:prstGeom>
          <a:solidFill>
            <a:schemeClr val="tx2"/>
          </a:solidFill>
          <a:ln w="9525">
            <a:solidFill>
              <a:schemeClr val="accent3"/>
            </a:solidFill>
            <a:prstDash val="solid"/>
          </a:ln>
        </p:spPr>
      </p:sp>
      <p:sp>
        <p:nvSpPr>
          <p:cNvPr id="17" name="Step number 5"/>
          <p:cNvSpPr/>
          <p:nvPr/>
        </p:nvSpPr>
        <p:spPr>
          <a:xfrm>
            <a:off x="566928" y="3465576"/>
            <a:ext cx="329184" cy="329184"/>
          </a:xfrm>
          <a:prstGeom prst="ellipse">
            <a:avLst/>
          </a:prstGeom>
          <a:solidFill>
            <a:schemeClr val="accent6"/>
          </a:solid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18" name="Step text 5"/>
          <p:cNvSpPr txBox="1"/>
          <p:nvPr/>
        </p:nvSpPr>
        <p:spPr>
          <a:xfrm>
            <a:off x="1005840" y="3383280"/>
            <a:ext cx="3657600" cy="493776"/>
          </a:xfrm>
          <a:prstGeom prst="rect">
            <a:avLst/>
          </a:prstGeom>
          <a:noFill/>
          <a:ln/>
        </p:spPr>
        <p:txBody>
          <a:bodyPr wrap="square" lIns="0" tIns="0" rIns="0" bIns="0" rtlCol="0" anchor="ctr"/>
          <a:lstStyle/>
          <a:p>
            <a:pPr indent="0" marL="0">
              <a:buNone/>
            </a:pPr>
            <a:r>
              <a:rPr lang="en-US" sz="1200" b="1" dirty="0">
                <a:solidFill>
                  <a:schemeClr val="bg1"/>
                </a:solidFill>
              </a:rPr>
              <a:t>Add F with edge E–F (weight 3)</a:t>
            </a:r>
            <a:endParaRPr lang="en-US" sz="1200" dirty="0"/>
          </a:p>
          <a:p>
            <a:pPr indent="0" marL="0">
              <a:buNone/>
            </a:pPr>
            <a:r>
              <a:rPr lang="en-US" sz="1100" dirty="0">
                <a:solidFill>
                  <a:schemeClr val="bg2"/>
                </a:solidFill>
              </a:rPr>
              <a:t>Tree: all 6 vertices</a:t>
            </a:r>
            <a:endParaRPr lang="en-US" sz="1200" dirty="0"/>
          </a:p>
        </p:txBody>
      </p:sp>
      <p:sp>
        <p:nvSpPr>
          <p:cNvPr id="19" name="MST card"/>
          <p:cNvSpPr/>
          <p:nvPr/>
        </p:nvSpPr>
        <p:spPr>
          <a:xfrm>
            <a:off x="4937760" y="1188720"/>
            <a:ext cx="3749040" cy="2688336"/>
          </a:xfrm>
          <a:prstGeom prst="roundRect">
            <a:avLst>
              <a:gd name="adj" fmla="val 2721"/>
            </a:avLst>
          </a:prstGeom>
          <a:solidFill>
            <a:schemeClr val="tx2"/>
          </a:solidFill>
          <a:ln w="9525">
            <a:solidFill>
              <a:schemeClr val="accent3"/>
            </a:solidFill>
            <a:prstDash val="solid"/>
          </a:ln>
        </p:spPr>
      </p:sp>
      <p:sp>
        <p:nvSpPr>
          <p:cNvPr id="20" name="Edge A-B"/>
          <p:cNvSpPr/>
          <p:nvPr/>
        </p:nvSpPr>
        <p:spPr>
          <a:xfrm flipV="1">
            <a:off x="5303520" y="1572768"/>
            <a:ext cx="905256" cy="754380"/>
          </a:xfrm>
          <a:prstGeom prst="line">
            <a:avLst/>
          </a:prstGeom>
          <a:noFill/>
          <a:ln w="15875">
            <a:solidFill>
              <a:schemeClr val="accent3"/>
            </a:solidFill>
            <a:prstDash val="dash"/>
          </a:ln>
        </p:spPr>
      </p:sp>
      <p:sp>
        <p:nvSpPr>
          <p:cNvPr id="21" name="Edge A-C"/>
          <p:cNvSpPr/>
          <p:nvPr/>
        </p:nvSpPr>
        <p:spPr>
          <a:xfrm>
            <a:off x="5303520" y="2327148"/>
            <a:ext cx="905256" cy="754380"/>
          </a:xfrm>
          <a:prstGeom prst="line">
            <a:avLst/>
          </a:prstGeom>
          <a:noFill/>
          <a:ln w="38100">
            <a:solidFill>
              <a:schemeClr val="accent2"/>
            </a:solidFill>
            <a:prstDash val="solid"/>
          </a:ln>
        </p:spPr>
      </p:sp>
      <p:sp>
        <p:nvSpPr>
          <p:cNvPr id="22" name="Edge B-C"/>
          <p:cNvSpPr/>
          <p:nvPr/>
        </p:nvSpPr>
        <p:spPr>
          <a:xfrm>
            <a:off x="6208776" y="1572768"/>
            <a:ext cx="0" cy="1508760"/>
          </a:xfrm>
          <a:prstGeom prst="line">
            <a:avLst/>
          </a:prstGeom>
          <a:noFill/>
          <a:ln w="38100">
            <a:solidFill>
              <a:schemeClr val="accent2"/>
            </a:solidFill>
            <a:prstDash val="solid"/>
          </a:ln>
        </p:spPr>
      </p:sp>
      <p:sp>
        <p:nvSpPr>
          <p:cNvPr id="23" name="Edge B-D"/>
          <p:cNvSpPr/>
          <p:nvPr/>
        </p:nvSpPr>
        <p:spPr>
          <a:xfrm>
            <a:off x="6208776" y="1572768"/>
            <a:ext cx="1207008" cy="0"/>
          </a:xfrm>
          <a:prstGeom prst="line">
            <a:avLst/>
          </a:prstGeom>
          <a:noFill/>
          <a:ln w="38100">
            <a:solidFill>
              <a:schemeClr val="accent2"/>
            </a:solidFill>
            <a:prstDash val="solid"/>
          </a:ln>
        </p:spPr>
      </p:sp>
      <p:sp>
        <p:nvSpPr>
          <p:cNvPr id="24" name="Edge C-D"/>
          <p:cNvSpPr/>
          <p:nvPr/>
        </p:nvSpPr>
        <p:spPr>
          <a:xfrm flipV="1">
            <a:off x="6208776" y="1572768"/>
            <a:ext cx="1207008" cy="1508760"/>
          </a:xfrm>
          <a:prstGeom prst="line">
            <a:avLst/>
          </a:prstGeom>
          <a:noFill/>
          <a:ln w="15875">
            <a:solidFill>
              <a:schemeClr val="accent3"/>
            </a:solidFill>
            <a:prstDash val="dash"/>
          </a:ln>
        </p:spPr>
      </p:sp>
      <p:sp>
        <p:nvSpPr>
          <p:cNvPr id="25" name="Edge C-E"/>
          <p:cNvSpPr/>
          <p:nvPr/>
        </p:nvSpPr>
        <p:spPr>
          <a:xfrm>
            <a:off x="6208776" y="3081528"/>
            <a:ext cx="1207008" cy="0"/>
          </a:xfrm>
          <a:prstGeom prst="line">
            <a:avLst/>
          </a:prstGeom>
          <a:noFill/>
          <a:ln w="15875">
            <a:solidFill>
              <a:schemeClr val="accent3"/>
            </a:solidFill>
            <a:prstDash val="dash"/>
          </a:ln>
        </p:spPr>
      </p:sp>
      <p:sp>
        <p:nvSpPr>
          <p:cNvPr id="26" name="Edge D-E"/>
          <p:cNvSpPr/>
          <p:nvPr/>
        </p:nvSpPr>
        <p:spPr>
          <a:xfrm>
            <a:off x="7415784" y="1572768"/>
            <a:ext cx="0" cy="1508760"/>
          </a:xfrm>
          <a:prstGeom prst="line">
            <a:avLst/>
          </a:prstGeom>
          <a:noFill/>
          <a:ln w="38100">
            <a:solidFill>
              <a:schemeClr val="accent2"/>
            </a:solidFill>
            <a:prstDash val="solid"/>
          </a:ln>
        </p:spPr>
      </p:sp>
      <p:sp>
        <p:nvSpPr>
          <p:cNvPr id="27" name="Edge D-F"/>
          <p:cNvSpPr/>
          <p:nvPr/>
        </p:nvSpPr>
        <p:spPr>
          <a:xfrm>
            <a:off x="7415784" y="1572768"/>
            <a:ext cx="905256" cy="754380"/>
          </a:xfrm>
          <a:prstGeom prst="line">
            <a:avLst/>
          </a:prstGeom>
          <a:noFill/>
          <a:ln w="15875">
            <a:solidFill>
              <a:schemeClr val="accent3"/>
            </a:solidFill>
            <a:prstDash val="dash"/>
          </a:ln>
        </p:spPr>
      </p:sp>
      <p:sp>
        <p:nvSpPr>
          <p:cNvPr id="28" name="Edge E-F"/>
          <p:cNvSpPr/>
          <p:nvPr/>
        </p:nvSpPr>
        <p:spPr>
          <a:xfrm flipV="1">
            <a:off x="7415784" y="2327148"/>
            <a:ext cx="905256" cy="754380"/>
          </a:xfrm>
          <a:prstGeom prst="line">
            <a:avLst/>
          </a:prstGeom>
          <a:noFill/>
          <a:ln w="38100">
            <a:solidFill>
              <a:schemeClr val="accent2"/>
            </a:solidFill>
            <a:prstDash val="solid"/>
          </a:ln>
        </p:spPr>
      </p:sp>
      <p:sp>
        <p:nvSpPr>
          <p:cNvPr id="29" name="Weight A-B"/>
          <p:cNvSpPr/>
          <p:nvPr/>
        </p:nvSpPr>
        <p:spPr>
          <a:xfrm>
            <a:off x="5609844" y="1849374"/>
            <a:ext cx="292608" cy="201168"/>
          </a:xfrm>
          <a:prstGeom prst="roundRect">
            <a:avLst>
              <a:gd name="adj" fmla="val 22727"/>
            </a:avLst>
          </a:prstGeom>
          <a:solidFill>
            <a:schemeClr val="tx1"/>
          </a:solidFill>
          <a:ln w="9525">
            <a:solidFill>
              <a:schemeClr val="accent3"/>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0" name="Weight A-C"/>
          <p:cNvSpPr/>
          <p:nvPr/>
        </p:nvSpPr>
        <p:spPr>
          <a:xfrm>
            <a:off x="5609844" y="2603754"/>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31" name="Weight B-C"/>
          <p:cNvSpPr/>
          <p:nvPr/>
        </p:nvSpPr>
        <p:spPr>
          <a:xfrm>
            <a:off x="6062472" y="2226564"/>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32" name="Weight B-D"/>
          <p:cNvSpPr/>
          <p:nvPr/>
        </p:nvSpPr>
        <p:spPr>
          <a:xfrm>
            <a:off x="6665976" y="1472184"/>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33" name="Weight C-D"/>
          <p:cNvSpPr/>
          <p:nvPr/>
        </p:nvSpPr>
        <p:spPr>
          <a:xfrm>
            <a:off x="6665976" y="2226564"/>
            <a:ext cx="292608" cy="201168"/>
          </a:xfrm>
          <a:prstGeom prst="roundRect">
            <a:avLst>
              <a:gd name="adj" fmla="val 22727"/>
            </a:avLst>
          </a:prstGeom>
          <a:solidFill>
            <a:schemeClr val="tx1"/>
          </a:solidFill>
          <a:ln w="9525">
            <a:solidFill>
              <a:schemeClr val="accent3"/>
            </a:solid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34" name="Weight C-E"/>
          <p:cNvSpPr/>
          <p:nvPr/>
        </p:nvSpPr>
        <p:spPr>
          <a:xfrm>
            <a:off x="6665976" y="2980944"/>
            <a:ext cx="292608" cy="201168"/>
          </a:xfrm>
          <a:prstGeom prst="roundRect">
            <a:avLst>
              <a:gd name="adj" fmla="val 22727"/>
            </a:avLst>
          </a:prstGeom>
          <a:solidFill>
            <a:schemeClr val="tx1"/>
          </a:solidFill>
          <a:ln w="9525">
            <a:solidFill>
              <a:schemeClr val="accent3"/>
            </a:solidFill>
          </a:ln>
        </p:spPr>
        <p:txBody>
          <a:bodyPr wrap="square" lIns="0" tIns="0" rIns="0" bIns="0" rtlCol="0" anchor="ctr"/>
          <a:lstStyle/>
          <a:p>
            <a:pPr algn="ctr" indent="0" marL="0">
              <a:buNone/>
            </a:pPr>
            <a:r>
              <a:rPr lang="en-US" sz="1000" b="1" dirty="0">
                <a:solidFill>
                  <a:schemeClr val="bg1"/>
                </a:solidFill>
              </a:rPr>
              <a:t>10</a:t>
            </a:r>
            <a:endParaRPr lang="en-US" sz="1000" dirty="0"/>
          </a:p>
        </p:txBody>
      </p:sp>
      <p:sp>
        <p:nvSpPr>
          <p:cNvPr id="35" name="Weight D-E"/>
          <p:cNvSpPr/>
          <p:nvPr/>
        </p:nvSpPr>
        <p:spPr>
          <a:xfrm>
            <a:off x="7269480" y="2226564"/>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36" name="Weight D-F"/>
          <p:cNvSpPr/>
          <p:nvPr/>
        </p:nvSpPr>
        <p:spPr>
          <a:xfrm>
            <a:off x="7722108" y="1849374"/>
            <a:ext cx="292608" cy="201168"/>
          </a:xfrm>
          <a:prstGeom prst="roundRect">
            <a:avLst>
              <a:gd name="adj" fmla="val 22727"/>
            </a:avLst>
          </a:prstGeom>
          <a:solidFill>
            <a:schemeClr val="tx1"/>
          </a:solidFill>
          <a:ln w="9525">
            <a:solidFill>
              <a:schemeClr val="accent3"/>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37" name="Weight E-F"/>
          <p:cNvSpPr/>
          <p:nvPr/>
        </p:nvSpPr>
        <p:spPr>
          <a:xfrm>
            <a:off x="7722108" y="2603754"/>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38" name="Vertex A"/>
          <p:cNvSpPr/>
          <p:nvPr/>
        </p:nvSpPr>
        <p:spPr>
          <a:xfrm>
            <a:off x="5102352" y="2125980"/>
            <a:ext cx="402336" cy="402336"/>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400" b="1" dirty="0">
                <a:solidFill>
                  <a:schemeClr val="tx1"/>
                </a:solidFill>
              </a:rPr>
              <a:t>A</a:t>
            </a:r>
            <a:endParaRPr lang="en-US" sz="1400" dirty="0"/>
          </a:p>
        </p:txBody>
      </p:sp>
      <p:sp>
        <p:nvSpPr>
          <p:cNvPr id="39" name="Vertex B"/>
          <p:cNvSpPr/>
          <p:nvPr/>
        </p:nvSpPr>
        <p:spPr>
          <a:xfrm>
            <a:off x="6007608" y="1371600"/>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40" name="Vertex C"/>
          <p:cNvSpPr/>
          <p:nvPr/>
        </p:nvSpPr>
        <p:spPr>
          <a:xfrm>
            <a:off x="6007608" y="2880360"/>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41" name="Vertex D"/>
          <p:cNvSpPr/>
          <p:nvPr/>
        </p:nvSpPr>
        <p:spPr>
          <a:xfrm>
            <a:off x="7214616" y="1371600"/>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42" name="Vertex E"/>
          <p:cNvSpPr/>
          <p:nvPr/>
        </p:nvSpPr>
        <p:spPr>
          <a:xfrm>
            <a:off x="7214616" y="2880360"/>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43" name="Vertex F"/>
          <p:cNvSpPr/>
          <p:nvPr/>
        </p:nvSpPr>
        <p:spPr>
          <a:xfrm>
            <a:off x="8119872" y="2125980"/>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44" name="Legend"/>
          <p:cNvSpPr txBox="1"/>
          <p:nvPr/>
        </p:nvSpPr>
        <p:spPr>
          <a:xfrm>
            <a:off x="5120640" y="3429000"/>
            <a:ext cx="3383280" cy="274320"/>
          </a:xfrm>
          <a:prstGeom prst="rect">
            <a:avLst/>
          </a:prstGeom>
          <a:noFill/>
          <a:ln/>
        </p:spPr>
        <p:txBody>
          <a:bodyPr wrap="square" lIns="0" tIns="0" rIns="0" bIns="0" rtlCol="0" anchor="ctr"/>
          <a:lstStyle/>
          <a:p>
            <a:pPr algn="ctr" indent="0" marL="0">
              <a:buNone/>
            </a:pPr>
            <a:r>
              <a:rPr lang="en-US" sz="1200" dirty="0">
                <a:solidFill>
                  <a:schemeClr val="accent2"/>
                </a:solidFill>
              </a:rPr>
              <a:t>■ </a:t>
            </a:r>
            <a:pPr algn="ctr" indent="0" marL="0">
              <a:buNone/>
            </a:pPr>
            <a:r>
              <a:rPr lang="en-US" sz="1200" dirty="0">
                <a:solidFill>
                  <a:schemeClr val="bg1"/>
                </a:solidFill>
              </a:rPr>
              <a:t>MST edge     </a:t>
            </a:r>
            <a:pPr algn="ctr" indent="0" marL="0">
              <a:buNone/>
            </a:pPr>
            <a:r>
              <a:rPr lang="en-US" sz="1200" dirty="0">
                <a:solidFill>
                  <a:schemeClr val="accent3"/>
                </a:solidFill>
              </a:rPr>
              <a:t>■ </a:t>
            </a:r>
            <a:pPr algn="ctr" indent="0" marL="0">
              <a:buNone/>
            </a:pPr>
            <a:r>
              <a:rPr lang="en-US" sz="1200" dirty="0">
                <a:solidFill>
                  <a:schemeClr val="bg1"/>
                </a:solidFill>
              </a:rPr>
              <a:t>Not used</a:t>
            </a:r>
            <a:endParaRPr lang="en-US" sz="1200" dirty="0"/>
          </a:p>
        </p:txBody>
      </p:sp>
      <p:sp>
        <p:nvSpPr>
          <p:cNvPr id="45" name="Note box"/>
          <p:cNvSpPr/>
          <p:nvPr/>
        </p:nvSpPr>
        <p:spPr>
          <a:xfrm>
            <a:off x="457200" y="4023360"/>
            <a:ext cx="8229600" cy="457200"/>
          </a:xfrm>
          <a:prstGeom prst="roundRect">
            <a:avLst>
              <a:gd name="adj" fmla="val 16000"/>
            </a:avLst>
          </a:prstGeom>
          <a:solidFill>
            <a:schemeClr val="tx2"/>
          </a:solidFill>
          <a:ln w="12700">
            <a:solidFill>
              <a:schemeClr val="accent2"/>
            </a:solidFill>
            <a:prstDash val="solid"/>
          </a:ln>
        </p:spPr>
      </p:sp>
      <p:sp>
        <p:nvSpPr>
          <p:cNvPr id="46" name="Note text"/>
          <p:cNvSpPr txBox="1"/>
          <p:nvPr/>
        </p:nvSpPr>
        <p:spPr>
          <a:xfrm>
            <a:off x="640080" y="4023360"/>
            <a:ext cx="7863840" cy="457200"/>
          </a:xfrm>
          <a:prstGeom prst="rect">
            <a:avLst/>
          </a:prstGeom>
          <a:noFill/>
          <a:ln/>
        </p:spPr>
        <p:txBody>
          <a:bodyPr wrap="square" lIns="0" tIns="0" rIns="0" bIns="0" rtlCol="0" anchor="ctr"/>
          <a:lstStyle/>
          <a:p>
            <a:pPr indent="0" marL="0">
              <a:buNone/>
            </a:pPr>
            <a:r>
              <a:rPr lang="en-US" sz="1200" b="1" dirty="0">
                <a:solidFill>
                  <a:schemeClr val="accent2"/>
                </a:solidFill>
              </a:rPr>
              <a:t>Total MST weight:  </a:t>
            </a:r>
            <a:pPr indent="0" marL="0">
              <a:buNone/>
            </a:pPr>
            <a:r>
              <a:rPr lang="en-US" sz="1200" dirty="0">
                <a:solidFill>
                  <a:schemeClr val="bg1"/>
                </a:solidFill>
              </a:rPr>
              <a:t>2 + 1 + 5 + 2 + 3 = 13    |    5 edges (V − 1), no cycle formed</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bg1"/>
                </a:solidFill>
              </a:rPr>
              <a:t>Key Table: Tracking the Cheapest Edge</a:t>
            </a:r>
            <a:endParaRPr lang="en-US" sz="2600" dirty="0"/>
          </a:p>
        </p:txBody>
      </p:sp>
      <p:sp>
        <p:nvSpPr>
          <p:cNvPr id="3" name="Caption"/>
          <p:cNvSpPr txBox="1"/>
          <p:nvPr/>
        </p:nvSpPr>
        <p:spPr>
          <a:xfrm>
            <a:off x="457200" y="804672"/>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key[v] = cheapest known edge from the tree to v  |  blue cell = updated in that step</a:t>
            </a:r>
            <a:endParaRPr lang="en-US" sz="1200" dirty="0"/>
          </a:p>
        </p:txBody>
      </p:sp>
      <p:graphicFrame>
        <p:nvGraphicFramePr>
          <p:cNvPr id="6" name="Key table"/>
          <p:cNvGraphicFramePr>
            <a:graphicFrameLocks noGrp="1"/>
          </p:cNvGraphicFramePr>
          <p:nvPr>
            <p:extLst>
              <p:ext uri="{D42A27DB-BD31-4B8C-83A1-F6EECF244321}">
                <p14:modId xmlns:p14="http://schemas.microsoft.com/office/powerpoint/2010/main" val="1579011935"/>
              </p:ext>
            </p:extLst>
          </p:nvPr>
        </p:nvGraphicFramePr>
        <p:xfrm>
          <a:off x="457200" y="1188720"/>
          <a:ext cx="5394960" cy="914400"/>
        </p:xfrm>
        <a:graphic>
          <a:graphicData uri="http://schemas.openxmlformats.org/drawingml/2006/table">
            <a:tbl>
              <a:tblPr/>
              <a:tblGrid>
                <a:gridCol w="548640"/>
                <a:gridCol w="1005840"/>
                <a:gridCol w="768096"/>
                <a:gridCol w="768096"/>
                <a:gridCol w="768096"/>
                <a:gridCol w="768096"/>
                <a:gridCol w="768096"/>
              </a:tblGrid>
              <a:tr h="347472">
                <a:tc>
                  <a:txBody>
                    <a:bodyPr/>
                    <a:lstStyle/>
                    <a:p>
                      <a:pPr algn="ctr" indent="0" marL="0">
                        <a:buNone/>
                      </a:pPr>
                      <a:r>
                        <a:rPr lang="en-US" sz="1200" b="1" dirty="0">
                          <a:solidFill>
                            <a:schemeClr val="bg1"/>
                          </a:solidFill>
                        </a:rPr>
                        <a:t>Step</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Picked</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key[B]</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key[C]</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key[D]</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key[E]</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key[F]</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1"/>
                    </a:solidFill>
                  </a:tcPr>
                </a:tc>
              </a:tr>
              <a:tr h="347472">
                <a:tc>
                  <a:txBody>
                    <a:bodyPr/>
                    <a:lstStyle/>
                    <a:p>
                      <a:pPr algn="ctr" indent="0" marL="0">
                        <a:buNone/>
                      </a:pPr>
                      <a:r>
                        <a:rPr lang="en-US" sz="1200" dirty="0">
                          <a:solidFill>
                            <a:schemeClr val="bg1"/>
                          </a:solidFill>
                        </a:rPr>
                        <a:t>1</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A (start)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tx1"/>
                          </a:solidFill>
                        </a:rPr>
                        <a:t>4</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tx1"/>
                          </a:solidFill>
                        </a:rPr>
                        <a:t>2</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r>
              <a:tr h="347472">
                <a:tc>
                  <a:txBody>
                    <a:bodyPr/>
                    <a:lstStyle/>
                    <a:p>
                      <a:pPr algn="ctr" indent="0" marL="0">
                        <a:buNone/>
                      </a:pPr>
                      <a:r>
                        <a:rPr lang="en-US" sz="1200" dirty="0">
                          <a:solidFill>
                            <a:schemeClr val="bg1"/>
                          </a:solidFill>
                        </a:rPr>
                        <a:t>2</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 (2)</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tx1"/>
                          </a:solidFill>
                        </a:rPr>
                        <a:t>1</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tx1"/>
                          </a:solidFill>
                        </a:rPr>
                        <a:t>8</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tx1"/>
                          </a:solidFill>
                        </a:rPr>
                        <a:t>10</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r>
              <a:tr h="347472">
                <a:tc>
                  <a:txBody>
                    <a:bodyPr/>
                    <a:lstStyle/>
                    <a:p>
                      <a:pPr algn="ctr" indent="0" marL="0">
                        <a:buNone/>
                      </a:pPr>
                      <a:r>
                        <a:rPr lang="en-US" sz="1200" dirty="0">
                          <a:solidFill>
                            <a:schemeClr val="bg1"/>
                          </a:solidFill>
                        </a:rPr>
                        <a:t>3</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B (1)</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tx1"/>
                          </a:solidFill>
                        </a:rPr>
                        <a:t>5</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2"/>
                    </a:solidFill>
                  </a:tcPr>
                </a:tc>
                <a:tc>
                  <a:txBody>
                    <a:bodyPr/>
                    <a:lstStyle/>
                    <a:p>
                      <a:pPr algn="ctr" indent="0" marL="0">
                        <a:buNone/>
                      </a:pPr>
                      <a:r>
                        <a:rPr lang="en-US" sz="1200" dirty="0">
                          <a:solidFill>
                            <a:schemeClr val="bg1"/>
                          </a:solidFill>
                        </a:rPr>
                        <a:t>10</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r>
              <a:tr h="347472">
                <a:tc>
                  <a:txBody>
                    <a:bodyPr/>
                    <a:lstStyle/>
                    <a:p>
                      <a:pPr algn="ctr" indent="0" marL="0">
                        <a:buNone/>
                      </a:pPr>
                      <a:r>
                        <a:rPr lang="en-US" sz="1200" dirty="0">
                          <a:solidFill>
                            <a:schemeClr val="bg1"/>
                          </a:solidFill>
                        </a:rPr>
                        <a:t>4</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D (5)</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tx1"/>
                          </a:solidFill>
                        </a:rPr>
                        <a:t>2</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tx1"/>
                          </a:solidFill>
                        </a:rPr>
                        <a:t>6</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2"/>
                    </a:solidFill>
                  </a:tcPr>
                </a:tc>
              </a:tr>
              <a:tr h="347472">
                <a:tc>
                  <a:txBody>
                    <a:bodyPr/>
                    <a:lstStyle/>
                    <a:p>
                      <a:pPr algn="ctr" indent="0" marL="0">
                        <a:buNone/>
                      </a:pPr>
                      <a:r>
                        <a:rPr lang="en-US" sz="1200" dirty="0">
                          <a:solidFill>
                            <a:schemeClr val="bg1"/>
                          </a:solidFill>
                        </a:rPr>
                        <a:t>5</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E (2)</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tx1"/>
                          </a:solidFill>
                        </a:rPr>
                        <a:t>3</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accent2"/>
                    </a:solidFill>
                  </a:tcPr>
                </a:tc>
              </a:tr>
              <a:tr h="347472">
                <a:tc>
                  <a:txBody>
                    <a:bodyPr/>
                    <a:lstStyle/>
                    <a:p>
                      <a:pPr algn="ctr" indent="0" marL="0">
                        <a:buNone/>
                      </a:pPr>
                      <a:r>
                        <a:rPr lang="en-US" sz="1200" dirty="0">
                          <a:solidFill>
                            <a:schemeClr val="bg1"/>
                          </a:solidFill>
                        </a:rPr>
                        <a:t>6</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F (3)</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c>
                  <a:txBody>
                    <a:bodyPr/>
                    <a:lstStyle/>
                    <a:p>
                      <a:pPr algn="ctr" indent="0" marL="0">
                        <a:buNone/>
                      </a:pPr>
                      <a:r>
                        <a:rPr lang="en-US" sz="1200" dirty="0">
                          <a:solidFill>
                            <a:schemeClr val="bg1"/>
                          </a:solidFill>
                        </a:rPr>
                        <a:t>–</a:t>
                      </a:r>
                      <a:endParaRPr lang="en-US" sz="1200" dirty="0"/>
                    </a:p>
                  </a:txBody>
                  <a:tcPr marL="91440" marR="91440" marT="45720" marB="4572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solidFill>
                      <a:schemeClr val="tx2"/>
                    </a:solidFill>
                  </a:tcPr>
                </a:tc>
              </a:tr>
            </a:tbl>
          </a:graphicData>
        </a:graphic>
      </p:graphicFrame>
      <p:sp>
        <p:nvSpPr>
          <p:cNvPr id="5" name="Explanation card"/>
          <p:cNvSpPr/>
          <p:nvPr/>
        </p:nvSpPr>
        <p:spPr>
          <a:xfrm>
            <a:off x="6126480" y="1188720"/>
            <a:ext cx="2560320" cy="2432304"/>
          </a:xfrm>
          <a:prstGeom prst="roundRect">
            <a:avLst>
              <a:gd name="adj" fmla="val 3008"/>
            </a:avLst>
          </a:prstGeom>
          <a:solidFill>
            <a:schemeClr val="tx2"/>
          </a:solidFill>
          <a:ln w="9525">
            <a:solidFill>
              <a:schemeClr val="accent3"/>
            </a:solidFill>
            <a:prstDash val="solid"/>
          </a:ln>
        </p:spPr>
      </p:sp>
      <p:sp>
        <p:nvSpPr>
          <p:cNvPr id="6" name="Explanation text"/>
          <p:cNvSpPr txBox="1"/>
          <p:nvPr/>
        </p:nvSpPr>
        <p:spPr>
          <a:xfrm>
            <a:off x="6263640" y="1280160"/>
            <a:ext cx="2286000" cy="2249424"/>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Reading the table</a:t>
            </a:r>
            <a:endParaRPr lang="en-US" sz="1200" dirty="0"/>
          </a:p>
          <a:p>
            <a:pPr indent="0" marL="0">
              <a:spcAft>
                <a:spcPts val="600"/>
              </a:spcAft>
              <a:buNone/>
            </a:pPr>
            <a:r>
              <a:rPr lang="en-US" sz="1200" dirty="0">
                <a:solidFill>
                  <a:schemeClr val="bg1"/>
                </a:solidFill>
              </a:rPr>
              <a:t>Step 2: C joins the tree. B is now reachable at cost 1 (via C) instead of 4 (via A), so key[B] drops to 1.</a:t>
            </a:r>
            <a:endParaRPr lang="en-US" sz="1200" dirty="0"/>
          </a:p>
          <a:p>
            <a:pPr indent="0" marL="0">
              <a:spcAft>
                <a:spcPts val="600"/>
              </a:spcAft>
              <a:buNone/>
            </a:pPr>
            <a:r>
              <a:rPr lang="en-US" sz="1200" dirty="0">
                <a:solidFill>
                  <a:schemeClr val="bg1"/>
                </a:solidFill>
              </a:rPr>
              <a:t>Each step picks the smallest key among vertices not yet in the tree.</a:t>
            </a:r>
            <a:endParaRPr lang="en-US" sz="1200" dirty="0"/>
          </a:p>
          <a:p>
            <a:pPr indent="0" marL="0">
              <a:buNone/>
            </a:pPr>
            <a:r>
              <a:rPr lang="en-US" sz="1200" dirty="0">
                <a:solidFill>
                  <a:schemeClr val="bg1"/>
                </a:solidFill>
              </a:rPr>
              <a:t>– means the vertex is already in the tree.</a:t>
            </a:r>
            <a:endParaRPr lang="en-US" sz="1200" dirty="0"/>
          </a:p>
        </p:txBody>
      </p:sp>
      <p:sp>
        <p:nvSpPr>
          <p:cNvPr id="7" name="Note box"/>
          <p:cNvSpPr/>
          <p:nvPr/>
        </p:nvSpPr>
        <p:spPr>
          <a:xfrm>
            <a:off x="457200" y="3794760"/>
            <a:ext cx="8229600" cy="685800"/>
          </a:xfrm>
          <a:prstGeom prst="roundRect">
            <a:avLst>
              <a:gd name="adj" fmla="val 10667"/>
            </a:avLst>
          </a:prstGeom>
          <a:solidFill>
            <a:schemeClr val="tx2"/>
          </a:solidFill>
          <a:ln w="12700">
            <a:solidFill>
              <a:schemeClr val="accent2"/>
            </a:solidFill>
            <a:prstDash val="solid"/>
          </a:ln>
        </p:spPr>
      </p:sp>
      <p:sp>
        <p:nvSpPr>
          <p:cNvPr id="8" name="Note text"/>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200" b="1" dirty="0">
                <a:solidFill>
                  <a:schemeClr val="accent2"/>
                </a:solidFill>
              </a:rPr>
              <a:t>parent[ ]:  </a:t>
            </a:r>
            <a:pPr indent="0" marL="0">
              <a:buNone/>
            </a:pPr>
            <a:r>
              <a:rPr lang="en-US" sz="1200" dirty="0">
                <a:solidFill>
                  <a:schemeClr val="bg1"/>
                </a:solidFill>
              </a:rPr>
              <a:t>C = A,  B = C,  D = B,  E = D,  F = E</a:t>
            </a:r>
            <a:endParaRPr lang="en-US" sz="1200" dirty="0"/>
          </a:p>
          <a:p>
            <a:pPr indent="0" marL="0">
              <a:buNone/>
            </a:pPr>
            <a:r>
              <a:rPr lang="en-US" sz="1200" b="1" dirty="0">
                <a:solidFill>
                  <a:schemeClr val="accent2"/>
                </a:solidFill>
              </a:rPr>
              <a:t>MST edges:  </a:t>
            </a:r>
            <a:pPr indent="0" marL="0">
              <a:buNone/>
            </a:pPr>
            <a:r>
              <a:rPr lang="en-US" sz="1200" dirty="0">
                <a:solidFill>
                  <a:schemeClr val="bg1"/>
                </a:solidFill>
              </a:rPr>
              <a:t>A–C, C–B, B–D, D–E, E–F   (total 13)</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600" b="1" dirty="0">
                <a:solidFill>
                  <a:schemeClr val="bg1"/>
                </a:solidFill>
              </a:rPr>
              <a:t>Time and Space Complexity</a:t>
            </a:r>
            <a:endParaRPr lang="en-US" sz="2600" dirty="0"/>
          </a:p>
        </p:txBody>
      </p:sp>
      <p:sp>
        <p:nvSpPr>
          <p:cNvPr id="3" name="Caption"/>
          <p:cNvSpPr txBox="1"/>
          <p:nvPr/>
        </p:nvSpPr>
        <p:spPr>
          <a:xfrm>
            <a:off x="457200" y="804672"/>
            <a:ext cx="8229600" cy="274320"/>
          </a:xfrm>
          <a:prstGeom prst="rect">
            <a:avLst/>
          </a:prstGeom>
          <a:noFill/>
          <a:ln/>
        </p:spPr>
        <p:txBody>
          <a:bodyPr wrap="square" lIns="0" tIns="0" rIns="0" bIns="0" rtlCol="0" anchor="ctr"/>
          <a:lstStyle/>
          <a:p>
            <a:pPr indent="0" marL="0">
              <a:buNone/>
            </a:pPr>
            <a:r>
              <a:rPr lang="en-US" sz="1200" dirty="0">
                <a:solidFill>
                  <a:schemeClr val="accent2"/>
                </a:solidFill>
              </a:rPr>
              <a:t>Cost depends on how the minimum key is found  |  V = vertices, E = edges</a:t>
            </a:r>
            <a:endParaRPr lang="en-US" sz="1200" dirty="0"/>
          </a:p>
        </p:txBody>
      </p:sp>
      <p:sp>
        <p:nvSpPr>
          <p:cNvPr id="4" name="Stat card 1"/>
          <p:cNvSpPr/>
          <p:nvPr/>
        </p:nvSpPr>
        <p:spPr>
          <a:xfrm>
            <a:off x="457200" y="1188720"/>
            <a:ext cx="3840480" cy="822960"/>
          </a:xfrm>
          <a:prstGeom prst="roundRect">
            <a:avLst>
              <a:gd name="adj" fmla="val 8889"/>
            </a:avLst>
          </a:prstGeom>
          <a:solidFill>
            <a:schemeClr val="tx2"/>
          </a:solidFill>
          <a:ln w="9525">
            <a:solidFill>
              <a:schemeClr val="accent3"/>
            </a:solidFill>
            <a:prstDash val="solid"/>
          </a:ln>
        </p:spPr>
      </p:sp>
      <p:sp>
        <p:nvSpPr>
          <p:cNvPr id="5" name="Stat text 1"/>
          <p:cNvSpPr txBox="1"/>
          <p:nvPr/>
        </p:nvSpPr>
        <p:spPr>
          <a:xfrm>
            <a:off x="640080" y="1188720"/>
            <a:ext cx="3474720" cy="822960"/>
          </a:xfrm>
          <a:prstGeom prst="rect">
            <a:avLst/>
          </a:prstGeom>
          <a:noFill/>
          <a:ln/>
        </p:spPr>
        <p:txBody>
          <a:bodyPr wrap="square" lIns="0" tIns="0" rIns="0" bIns="0" rtlCol="0" anchor="ctr"/>
          <a:lstStyle/>
          <a:p>
            <a:pPr indent="0" marL="0">
              <a:buNone/>
            </a:pPr>
            <a:r>
              <a:rPr lang="en-US" sz="2200" b="1" dirty="0">
                <a:solidFill>
                  <a:schemeClr val="accent2"/>
                </a:solidFill>
              </a:rPr>
              <a:t>O(E log V)</a:t>
            </a:r>
            <a:endParaRPr lang="en-US" sz="2200" dirty="0"/>
          </a:p>
          <a:p>
            <a:pPr indent="0" marL="0">
              <a:buNone/>
            </a:pPr>
            <a:r>
              <a:rPr lang="en-US" sz="1200" dirty="0">
                <a:solidFill>
                  <a:schemeClr val="bg1"/>
                </a:solidFill>
              </a:rPr>
              <a:t>Adjacency list + binary min-heap</a:t>
            </a:r>
            <a:endParaRPr lang="en-US" sz="2200" dirty="0"/>
          </a:p>
        </p:txBody>
      </p:sp>
      <p:sp>
        <p:nvSpPr>
          <p:cNvPr id="6" name="Stat card 2"/>
          <p:cNvSpPr/>
          <p:nvPr/>
        </p:nvSpPr>
        <p:spPr>
          <a:xfrm>
            <a:off x="457200" y="2121408"/>
            <a:ext cx="3840480" cy="822960"/>
          </a:xfrm>
          <a:prstGeom prst="roundRect">
            <a:avLst>
              <a:gd name="adj" fmla="val 8889"/>
            </a:avLst>
          </a:prstGeom>
          <a:solidFill>
            <a:schemeClr val="tx2"/>
          </a:solidFill>
          <a:ln w="9525">
            <a:solidFill>
              <a:schemeClr val="accent3"/>
            </a:solidFill>
            <a:prstDash val="solid"/>
          </a:ln>
        </p:spPr>
      </p:sp>
      <p:sp>
        <p:nvSpPr>
          <p:cNvPr id="7" name="Stat text 2"/>
          <p:cNvSpPr txBox="1"/>
          <p:nvPr/>
        </p:nvSpPr>
        <p:spPr>
          <a:xfrm>
            <a:off x="640080" y="2121408"/>
            <a:ext cx="3474720" cy="822960"/>
          </a:xfrm>
          <a:prstGeom prst="rect">
            <a:avLst/>
          </a:prstGeom>
          <a:noFill/>
          <a:ln/>
        </p:spPr>
        <p:txBody>
          <a:bodyPr wrap="square" lIns="0" tIns="0" rIns="0" bIns="0" rtlCol="0" anchor="ctr"/>
          <a:lstStyle/>
          <a:p>
            <a:pPr indent="0" marL="0">
              <a:buNone/>
            </a:pPr>
            <a:r>
              <a:rPr lang="en-US" sz="2200" b="1" dirty="0">
                <a:solidFill>
                  <a:schemeClr val="accent2"/>
                </a:solidFill>
              </a:rPr>
              <a:t>O(V²)</a:t>
            </a:r>
            <a:endParaRPr lang="en-US" sz="2200" dirty="0"/>
          </a:p>
          <a:p>
            <a:pPr indent="0" marL="0">
              <a:buNone/>
            </a:pPr>
            <a:r>
              <a:rPr lang="en-US" sz="1200" dirty="0">
                <a:solidFill>
                  <a:schemeClr val="bg1"/>
                </a:solidFill>
              </a:rPr>
              <a:t>Adjacency matrix + simple array</a:t>
            </a:r>
            <a:endParaRPr lang="en-US" sz="2200" dirty="0"/>
          </a:p>
        </p:txBody>
      </p:sp>
      <p:sp>
        <p:nvSpPr>
          <p:cNvPr id="8" name="Stat card 3"/>
          <p:cNvSpPr/>
          <p:nvPr/>
        </p:nvSpPr>
        <p:spPr>
          <a:xfrm>
            <a:off x="457200" y="3054096"/>
            <a:ext cx="3840480" cy="822960"/>
          </a:xfrm>
          <a:prstGeom prst="roundRect">
            <a:avLst>
              <a:gd name="adj" fmla="val 8889"/>
            </a:avLst>
          </a:prstGeom>
          <a:solidFill>
            <a:schemeClr val="tx2"/>
          </a:solidFill>
          <a:ln w="9525">
            <a:solidFill>
              <a:schemeClr val="accent3"/>
            </a:solidFill>
            <a:prstDash val="solid"/>
          </a:ln>
        </p:spPr>
      </p:sp>
      <p:sp>
        <p:nvSpPr>
          <p:cNvPr id="9" name="Stat text 3"/>
          <p:cNvSpPr txBox="1"/>
          <p:nvPr/>
        </p:nvSpPr>
        <p:spPr>
          <a:xfrm>
            <a:off x="640080" y="3054096"/>
            <a:ext cx="3474720" cy="822960"/>
          </a:xfrm>
          <a:prstGeom prst="rect">
            <a:avLst/>
          </a:prstGeom>
          <a:noFill/>
          <a:ln/>
        </p:spPr>
        <p:txBody>
          <a:bodyPr wrap="square" lIns="0" tIns="0" rIns="0" bIns="0" rtlCol="0" anchor="ctr"/>
          <a:lstStyle/>
          <a:p>
            <a:pPr indent="0" marL="0">
              <a:buNone/>
            </a:pPr>
            <a:r>
              <a:rPr lang="en-US" sz="2200" b="1" dirty="0">
                <a:solidFill>
                  <a:schemeClr val="accent2"/>
                </a:solidFill>
              </a:rPr>
              <a:t>O(V)</a:t>
            </a:r>
            <a:endParaRPr lang="en-US" sz="2200" dirty="0"/>
          </a:p>
          <a:p>
            <a:pPr indent="0" marL="0">
              <a:buNone/>
            </a:pPr>
            <a:r>
              <a:rPr lang="en-US" sz="1200" dirty="0">
                <a:solidFill>
                  <a:schemeClr val="bg1"/>
                </a:solidFill>
              </a:rPr>
              <a:t>Extra space for key[], parent[], visited[]</a:t>
            </a:r>
            <a:endParaRPr lang="en-US" sz="2200" dirty="0"/>
          </a:p>
        </p:txBody>
      </p:sp>
      <p:sp>
        <p:nvSpPr>
          <p:cNvPr id="10" name="Chart card"/>
          <p:cNvSpPr/>
          <p:nvPr/>
        </p:nvSpPr>
        <p:spPr>
          <a:xfrm>
            <a:off x="4480560" y="1188720"/>
            <a:ext cx="4206240" cy="2688336"/>
          </a:xfrm>
          <a:prstGeom prst="roundRect">
            <a:avLst>
              <a:gd name="adj" fmla="val 2721"/>
            </a:avLst>
          </a:prstGeom>
          <a:solidFill>
            <a:schemeClr val="tx2"/>
          </a:solidFill>
          <a:ln w="9525">
            <a:solidFill>
              <a:schemeClr val="accent3"/>
            </a:solidFill>
            <a:prstDash val="solid"/>
          </a:ln>
        </p:spPr>
      </p:sp>
      <p:graphicFrame>
        <p:nvGraphicFramePr>
          <p:cNvPr id="11" name="Chart 0" descr=""/>
          <p:cNvGraphicFramePr/>
          <p:nvPr/>
        </p:nvGraphicFramePr>
        <p:xfrm>
          <a:off x="4526280" y="1234440"/>
          <a:ext cx="4114800" cy="2596896"/>
        </p:xfrm>
        <a:graphic xmlns:a="http://schemas.openxmlformats.org/drawingml/2006/main">
          <a:graphicData uri="http://schemas.openxmlformats.org/drawingml/2006/chart">
            <c:chart xmlns:c="http://schemas.openxmlformats.org/drawingml/2006/chart" r:id="rId1"/>
          </a:graphicData>
        </a:graphic>
      </p:graphicFrame>
      <p:sp>
        <p:nvSpPr>
          <p:cNvPr id="12" name="Note box"/>
          <p:cNvSpPr/>
          <p:nvPr/>
        </p:nvSpPr>
        <p:spPr>
          <a:xfrm>
            <a:off x="457200" y="4023360"/>
            <a:ext cx="8229600" cy="457200"/>
          </a:xfrm>
          <a:prstGeom prst="roundRect">
            <a:avLst>
              <a:gd name="adj" fmla="val 16000"/>
            </a:avLst>
          </a:prstGeom>
          <a:solidFill>
            <a:schemeClr val="tx2"/>
          </a:solidFill>
          <a:ln w="12700">
            <a:solidFill>
              <a:schemeClr val="accent2"/>
            </a:solidFill>
            <a:prstDash val="solid"/>
          </a:ln>
        </p:spPr>
      </p:sp>
      <p:sp>
        <p:nvSpPr>
          <p:cNvPr id="13" name="Note text"/>
          <p:cNvSpPr txBox="1"/>
          <p:nvPr/>
        </p:nvSpPr>
        <p:spPr>
          <a:xfrm>
            <a:off x="640080" y="4023360"/>
            <a:ext cx="7863840" cy="457200"/>
          </a:xfrm>
          <a:prstGeom prst="rect">
            <a:avLst/>
          </a:prstGeom>
          <a:noFill/>
          <a:ln/>
        </p:spPr>
        <p:txBody>
          <a:bodyPr wrap="square" lIns="0" tIns="0" rIns="0" bIns="0" rtlCol="0" anchor="ctr"/>
          <a:lstStyle/>
          <a:p>
            <a:pPr indent="0" marL="0">
              <a:buNone/>
            </a:pPr>
            <a:r>
              <a:rPr lang="en-US" sz="1200" b="1" dirty="0">
                <a:solidFill>
                  <a:schemeClr val="accent2"/>
                </a:solidFill>
              </a:rPr>
              <a:t>Rule of thumb:  </a:t>
            </a:r>
            <a:pPr indent="0" marL="0">
              <a:buNone/>
            </a:pPr>
            <a:r>
              <a:rPr lang="en-US" sz="1200" dirty="0">
                <a:solidFill>
                  <a:schemeClr val="bg1"/>
                </a:solidFill>
              </a:rPr>
              <a:t>dense graph → matrix + array;  sparse graph → adjacency list + heap.</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822960"/>
            <a:ext cx="4023360" cy="731520"/>
          </a:xfrm>
          <a:prstGeom prst="rect">
            <a:avLst/>
          </a:prstGeom>
          <a:noFill/>
          <a:ln/>
        </p:spPr>
        <p:txBody>
          <a:bodyPr wrap="square" lIns="0" tIns="0" rIns="0" bIns="0" rtlCol="0" anchor="ctr"/>
          <a:lstStyle/>
          <a:p>
            <a:pPr algn="l" indent="0" marL="0">
              <a:buNone/>
            </a:pPr>
            <a:r>
              <a:rPr lang="en-US" sz="3400" b="1" dirty="0">
                <a:solidFill>
                  <a:schemeClr val="bg1"/>
                </a:solidFill>
              </a:rPr>
              <a:t>THANK YOU!</a:t>
            </a:r>
            <a:endParaRPr lang="en-US" sz="3400" dirty="0"/>
          </a:p>
        </p:txBody>
      </p:sp>
      <p:sp>
        <p:nvSpPr>
          <p:cNvPr id="3" name="Questions"/>
          <p:cNvSpPr txBox="1"/>
          <p:nvPr/>
        </p:nvSpPr>
        <p:spPr>
          <a:xfrm>
            <a:off x="457200" y="1600200"/>
            <a:ext cx="4023360" cy="365760"/>
          </a:xfrm>
          <a:prstGeom prst="rect">
            <a:avLst/>
          </a:prstGeom>
          <a:noFill/>
          <a:ln/>
        </p:spPr>
        <p:txBody>
          <a:bodyPr wrap="square" lIns="0" tIns="0" rIns="0" bIns="0" rtlCol="0" anchor="ctr"/>
          <a:lstStyle/>
          <a:p>
            <a:pPr indent="0" marL="0">
              <a:buNone/>
            </a:pPr>
            <a:r>
              <a:rPr lang="en-US" sz="1800" dirty="0">
                <a:solidFill>
                  <a:schemeClr val="accent2"/>
                </a:solidFill>
              </a:rPr>
              <a:t>Questions?</a:t>
            </a:r>
            <a:endParaRPr lang="en-US" sz="1800" dirty="0"/>
          </a:p>
        </p:txBody>
      </p:sp>
      <p:sp>
        <p:nvSpPr>
          <p:cNvPr id="4" name="Presenter details"/>
          <p:cNvSpPr txBox="1"/>
          <p:nvPr/>
        </p:nvSpPr>
        <p:spPr>
          <a:xfrm>
            <a:off x="457200" y="2926080"/>
            <a:ext cx="4023360" cy="914400"/>
          </a:xfrm>
          <a:prstGeom prst="rect">
            <a:avLst/>
          </a:prstGeom>
          <a:noFill/>
          <a:ln/>
        </p:spPr>
        <p:txBody>
          <a:bodyPr wrap="square" lIns="0" tIns="0" rIns="0" bIns="0" rtlCol="0" anchor="t"/>
          <a:lstStyle/>
          <a:p>
            <a:pPr indent="0" marL="0">
              <a:buNone/>
            </a:pPr>
            <a:r>
              <a:rPr lang="en-US" sz="1600" b="1" dirty="0">
                <a:solidFill>
                  <a:schemeClr val="bg1"/>
                </a:solidFill>
              </a:rPr>
              <a:t>Vedant Tarare</a:t>
            </a:r>
            <a:endParaRPr lang="en-US" sz="1200" dirty="0"/>
          </a:p>
          <a:p>
            <a:pPr indent="0" marL="0">
              <a:buNone/>
            </a:pPr>
            <a:r>
              <a:rPr lang="en-US" sz="1200" dirty="0">
                <a:solidFill>
                  <a:schemeClr val="bg1"/>
                </a:solidFill>
              </a:rPr>
              <a:t>PRN: 25070521191</a:t>
            </a:r>
            <a:endParaRPr lang="en-US" sz="1200" dirty="0"/>
          </a:p>
          <a:p>
            <a:pPr indent="0" marL="0">
              <a:buNone/>
            </a:pPr>
            <a:r>
              <a:rPr lang="en-US" sz="1200" dirty="0">
                <a:solidFill>
                  <a:schemeClr val="bg1"/>
                </a:solidFill>
              </a:rPr>
              <a:t>Sec: D-1  |  Sem: III</a:t>
            </a:r>
            <a:endParaRPr lang="en-US" sz="1200" dirty="0"/>
          </a:p>
        </p:txBody>
      </p:sp>
      <p:sp>
        <p:nvSpPr>
          <p:cNvPr id="5" name="Result card"/>
          <p:cNvSpPr/>
          <p:nvPr/>
        </p:nvSpPr>
        <p:spPr>
          <a:xfrm>
            <a:off x="4663440" y="640080"/>
            <a:ext cx="4023360" cy="3566160"/>
          </a:xfrm>
          <a:prstGeom prst="roundRect">
            <a:avLst>
              <a:gd name="adj" fmla="val 2051"/>
            </a:avLst>
          </a:prstGeom>
          <a:solidFill>
            <a:schemeClr val="tx2"/>
          </a:solidFill>
          <a:ln w="9525">
            <a:solidFill>
              <a:schemeClr val="accent3"/>
            </a:solidFill>
            <a:prstDash val="solid"/>
          </a:ln>
        </p:spPr>
      </p:sp>
      <p:sp>
        <p:nvSpPr>
          <p:cNvPr id="6" name="Result label"/>
          <p:cNvSpPr txBox="1"/>
          <p:nvPr/>
        </p:nvSpPr>
        <p:spPr>
          <a:xfrm>
            <a:off x="4846320" y="777240"/>
            <a:ext cx="3657600" cy="274320"/>
          </a:xfrm>
          <a:prstGeom prst="rect">
            <a:avLst/>
          </a:prstGeom>
          <a:noFill/>
          <a:ln/>
        </p:spPr>
        <p:txBody>
          <a:bodyPr wrap="square" lIns="0" tIns="0" rIns="0" bIns="0" rtlCol="0" anchor="ctr"/>
          <a:lstStyle/>
          <a:p>
            <a:pPr indent="0" marL="0">
              <a:buNone/>
            </a:pPr>
            <a:r>
              <a:rPr lang="en-US" sz="1200" b="1" dirty="0">
                <a:solidFill>
                  <a:schemeClr val="accent2"/>
                </a:solidFill>
              </a:rPr>
              <a:t>Result: Minimum Spanning Tree</a:t>
            </a:r>
            <a:endParaRPr lang="en-US" sz="1200" dirty="0"/>
          </a:p>
        </p:txBody>
      </p:sp>
      <p:sp>
        <p:nvSpPr>
          <p:cNvPr id="7" name="Edge A-B"/>
          <p:cNvSpPr/>
          <p:nvPr/>
        </p:nvSpPr>
        <p:spPr>
          <a:xfrm flipV="1">
            <a:off x="5120640" y="1325880"/>
            <a:ext cx="932688" cy="754380"/>
          </a:xfrm>
          <a:prstGeom prst="line">
            <a:avLst/>
          </a:prstGeom>
          <a:noFill/>
          <a:ln w="15875">
            <a:solidFill>
              <a:schemeClr val="accent3"/>
            </a:solidFill>
            <a:prstDash val="dash"/>
          </a:ln>
        </p:spPr>
      </p:sp>
      <p:sp>
        <p:nvSpPr>
          <p:cNvPr id="8" name="Edge A-C"/>
          <p:cNvSpPr/>
          <p:nvPr/>
        </p:nvSpPr>
        <p:spPr>
          <a:xfrm>
            <a:off x="5120640" y="2080260"/>
            <a:ext cx="932688" cy="754380"/>
          </a:xfrm>
          <a:prstGeom prst="line">
            <a:avLst/>
          </a:prstGeom>
          <a:noFill/>
          <a:ln w="38100">
            <a:solidFill>
              <a:schemeClr val="accent2"/>
            </a:solidFill>
            <a:prstDash val="solid"/>
          </a:ln>
        </p:spPr>
      </p:sp>
      <p:sp>
        <p:nvSpPr>
          <p:cNvPr id="9" name="Edge B-C"/>
          <p:cNvSpPr/>
          <p:nvPr/>
        </p:nvSpPr>
        <p:spPr>
          <a:xfrm>
            <a:off x="6053328" y="1325880"/>
            <a:ext cx="0" cy="1508760"/>
          </a:xfrm>
          <a:prstGeom prst="line">
            <a:avLst/>
          </a:prstGeom>
          <a:noFill/>
          <a:ln w="38100">
            <a:solidFill>
              <a:schemeClr val="accent2"/>
            </a:solidFill>
            <a:prstDash val="solid"/>
          </a:ln>
        </p:spPr>
      </p:sp>
      <p:sp>
        <p:nvSpPr>
          <p:cNvPr id="10" name="Edge B-D"/>
          <p:cNvSpPr/>
          <p:nvPr/>
        </p:nvSpPr>
        <p:spPr>
          <a:xfrm>
            <a:off x="6053328" y="1325880"/>
            <a:ext cx="1243584" cy="0"/>
          </a:xfrm>
          <a:prstGeom prst="line">
            <a:avLst/>
          </a:prstGeom>
          <a:noFill/>
          <a:ln w="38100">
            <a:solidFill>
              <a:schemeClr val="accent2"/>
            </a:solidFill>
            <a:prstDash val="solid"/>
          </a:ln>
        </p:spPr>
      </p:sp>
      <p:sp>
        <p:nvSpPr>
          <p:cNvPr id="11" name="Edge C-D"/>
          <p:cNvSpPr/>
          <p:nvPr/>
        </p:nvSpPr>
        <p:spPr>
          <a:xfrm flipV="1">
            <a:off x="6053328" y="1325880"/>
            <a:ext cx="1243584" cy="1508760"/>
          </a:xfrm>
          <a:prstGeom prst="line">
            <a:avLst/>
          </a:prstGeom>
          <a:noFill/>
          <a:ln w="15875">
            <a:solidFill>
              <a:schemeClr val="accent3"/>
            </a:solidFill>
            <a:prstDash val="dash"/>
          </a:ln>
        </p:spPr>
      </p:sp>
      <p:sp>
        <p:nvSpPr>
          <p:cNvPr id="12" name="Edge C-E"/>
          <p:cNvSpPr/>
          <p:nvPr/>
        </p:nvSpPr>
        <p:spPr>
          <a:xfrm>
            <a:off x="6053328" y="2834640"/>
            <a:ext cx="1243584" cy="0"/>
          </a:xfrm>
          <a:prstGeom prst="line">
            <a:avLst/>
          </a:prstGeom>
          <a:noFill/>
          <a:ln w="15875">
            <a:solidFill>
              <a:schemeClr val="accent3"/>
            </a:solidFill>
            <a:prstDash val="dash"/>
          </a:ln>
        </p:spPr>
      </p:sp>
      <p:sp>
        <p:nvSpPr>
          <p:cNvPr id="13" name="Edge D-E"/>
          <p:cNvSpPr/>
          <p:nvPr/>
        </p:nvSpPr>
        <p:spPr>
          <a:xfrm>
            <a:off x="7296912" y="1325880"/>
            <a:ext cx="0" cy="1508760"/>
          </a:xfrm>
          <a:prstGeom prst="line">
            <a:avLst/>
          </a:prstGeom>
          <a:noFill/>
          <a:ln w="38100">
            <a:solidFill>
              <a:schemeClr val="accent2"/>
            </a:solidFill>
            <a:prstDash val="solid"/>
          </a:ln>
        </p:spPr>
      </p:sp>
      <p:sp>
        <p:nvSpPr>
          <p:cNvPr id="14" name="Edge D-F"/>
          <p:cNvSpPr/>
          <p:nvPr/>
        </p:nvSpPr>
        <p:spPr>
          <a:xfrm>
            <a:off x="7296912" y="1325880"/>
            <a:ext cx="932688" cy="754380"/>
          </a:xfrm>
          <a:prstGeom prst="line">
            <a:avLst/>
          </a:prstGeom>
          <a:noFill/>
          <a:ln w="15875">
            <a:solidFill>
              <a:schemeClr val="accent3"/>
            </a:solidFill>
            <a:prstDash val="dash"/>
          </a:ln>
        </p:spPr>
      </p:sp>
      <p:sp>
        <p:nvSpPr>
          <p:cNvPr id="15" name="Edge E-F"/>
          <p:cNvSpPr/>
          <p:nvPr/>
        </p:nvSpPr>
        <p:spPr>
          <a:xfrm flipV="1">
            <a:off x="7296912" y="2080260"/>
            <a:ext cx="932688" cy="754380"/>
          </a:xfrm>
          <a:prstGeom prst="line">
            <a:avLst/>
          </a:prstGeom>
          <a:noFill/>
          <a:ln w="38100">
            <a:solidFill>
              <a:schemeClr val="accent2"/>
            </a:solidFill>
            <a:prstDash val="solid"/>
          </a:ln>
        </p:spPr>
      </p:sp>
      <p:sp>
        <p:nvSpPr>
          <p:cNvPr id="16" name="Weight A-B"/>
          <p:cNvSpPr/>
          <p:nvPr/>
        </p:nvSpPr>
        <p:spPr>
          <a:xfrm>
            <a:off x="5440680" y="1602486"/>
            <a:ext cx="292608" cy="201168"/>
          </a:xfrm>
          <a:prstGeom prst="roundRect">
            <a:avLst>
              <a:gd name="adj" fmla="val 22727"/>
            </a:avLst>
          </a:prstGeom>
          <a:solidFill>
            <a:schemeClr val="tx1"/>
          </a:solidFill>
          <a:ln w="9525">
            <a:solidFill>
              <a:schemeClr val="accent3"/>
            </a:solid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17" name="Weight A-C"/>
          <p:cNvSpPr/>
          <p:nvPr/>
        </p:nvSpPr>
        <p:spPr>
          <a:xfrm>
            <a:off x="5440680" y="235686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18" name="Weight B-C"/>
          <p:cNvSpPr/>
          <p:nvPr/>
        </p:nvSpPr>
        <p:spPr>
          <a:xfrm>
            <a:off x="5907024" y="197967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19" name="Weight B-D"/>
          <p:cNvSpPr/>
          <p:nvPr/>
        </p:nvSpPr>
        <p:spPr>
          <a:xfrm>
            <a:off x="6528816" y="122529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20" name="Weight C-D"/>
          <p:cNvSpPr/>
          <p:nvPr/>
        </p:nvSpPr>
        <p:spPr>
          <a:xfrm>
            <a:off x="6528816" y="1979676"/>
            <a:ext cx="292608" cy="201168"/>
          </a:xfrm>
          <a:prstGeom prst="roundRect">
            <a:avLst>
              <a:gd name="adj" fmla="val 22727"/>
            </a:avLst>
          </a:prstGeom>
          <a:solidFill>
            <a:schemeClr val="tx1"/>
          </a:solidFill>
          <a:ln w="9525">
            <a:solidFill>
              <a:schemeClr val="accent3"/>
            </a:solid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21" name="Weight C-E"/>
          <p:cNvSpPr/>
          <p:nvPr/>
        </p:nvSpPr>
        <p:spPr>
          <a:xfrm>
            <a:off x="6528816" y="2734056"/>
            <a:ext cx="292608" cy="201168"/>
          </a:xfrm>
          <a:prstGeom prst="roundRect">
            <a:avLst>
              <a:gd name="adj" fmla="val 22727"/>
            </a:avLst>
          </a:prstGeom>
          <a:solidFill>
            <a:schemeClr val="tx1"/>
          </a:solidFill>
          <a:ln w="9525">
            <a:solidFill>
              <a:schemeClr val="accent3"/>
            </a:solidFill>
          </a:ln>
        </p:spPr>
        <p:txBody>
          <a:bodyPr wrap="square" lIns="0" tIns="0" rIns="0" bIns="0" rtlCol="0" anchor="ctr"/>
          <a:lstStyle/>
          <a:p>
            <a:pPr algn="ctr" indent="0" marL="0">
              <a:buNone/>
            </a:pPr>
            <a:r>
              <a:rPr lang="en-US" sz="1000" b="1" dirty="0">
                <a:solidFill>
                  <a:schemeClr val="bg1"/>
                </a:solidFill>
              </a:rPr>
              <a:t>10</a:t>
            </a:r>
            <a:endParaRPr lang="en-US" sz="1000" dirty="0"/>
          </a:p>
        </p:txBody>
      </p:sp>
      <p:sp>
        <p:nvSpPr>
          <p:cNvPr id="22" name="Weight D-E"/>
          <p:cNvSpPr/>
          <p:nvPr/>
        </p:nvSpPr>
        <p:spPr>
          <a:xfrm>
            <a:off x="7150608" y="197967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23" name="Weight D-F"/>
          <p:cNvSpPr/>
          <p:nvPr/>
        </p:nvSpPr>
        <p:spPr>
          <a:xfrm>
            <a:off x="7616952" y="1602486"/>
            <a:ext cx="292608" cy="201168"/>
          </a:xfrm>
          <a:prstGeom prst="roundRect">
            <a:avLst>
              <a:gd name="adj" fmla="val 22727"/>
            </a:avLst>
          </a:prstGeom>
          <a:solidFill>
            <a:schemeClr val="tx1"/>
          </a:solidFill>
          <a:ln w="9525">
            <a:solidFill>
              <a:schemeClr val="accent3"/>
            </a:solid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24" name="Weight E-F"/>
          <p:cNvSpPr/>
          <p:nvPr/>
        </p:nvSpPr>
        <p:spPr>
          <a:xfrm>
            <a:off x="7616952" y="2356866"/>
            <a:ext cx="292608" cy="201168"/>
          </a:xfrm>
          <a:prstGeom prst="roundRect">
            <a:avLst>
              <a:gd name="adj" fmla="val 22727"/>
            </a:avLst>
          </a:prstGeom>
          <a:solidFill>
            <a:schemeClr val="tx1"/>
          </a:solidFill>
          <a:ln w="9525">
            <a:solidFill>
              <a:schemeClr val="accent2"/>
            </a:solid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25" name="Vertex A"/>
          <p:cNvSpPr/>
          <p:nvPr/>
        </p:nvSpPr>
        <p:spPr>
          <a:xfrm>
            <a:off x="4919472" y="1879092"/>
            <a:ext cx="402336" cy="402336"/>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400" b="1" dirty="0">
                <a:solidFill>
                  <a:schemeClr val="tx1"/>
                </a:solidFill>
              </a:rPr>
              <a:t>A</a:t>
            </a:r>
            <a:endParaRPr lang="en-US" sz="1400" dirty="0"/>
          </a:p>
        </p:txBody>
      </p:sp>
      <p:sp>
        <p:nvSpPr>
          <p:cNvPr id="26" name="Vertex B"/>
          <p:cNvSpPr/>
          <p:nvPr/>
        </p:nvSpPr>
        <p:spPr>
          <a:xfrm>
            <a:off x="5852160" y="1124712"/>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27" name="Vertex C"/>
          <p:cNvSpPr/>
          <p:nvPr/>
        </p:nvSpPr>
        <p:spPr>
          <a:xfrm>
            <a:off x="5852160" y="2633472"/>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28" name="Vertex D"/>
          <p:cNvSpPr/>
          <p:nvPr/>
        </p:nvSpPr>
        <p:spPr>
          <a:xfrm>
            <a:off x="7095744" y="1124712"/>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29" name="Vertex E"/>
          <p:cNvSpPr/>
          <p:nvPr/>
        </p:nvSpPr>
        <p:spPr>
          <a:xfrm>
            <a:off x="7095744" y="2633472"/>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E</a:t>
            </a:r>
            <a:endParaRPr lang="en-US" sz="1400" dirty="0"/>
          </a:p>
        </p:txBody>
      </p:sp>
      <p:sp>
        <p:nvSpPr>
          <p:cNvPr id="30" name="Vertex F"/>
          <p:cNvSpPr/>
          <p:nvPr/>
        </p:nvSpPr>
        <p:spPr>
          <a:xfrm>
            <a:off x="8028432" y="1879092"/>
            <a:ext cx="402336" cy="402336"/>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31" name="Total weight"/>
          <p:cNvSpPr txBox="1"/>
          <p:nvPr/>
        </p:nvSpPr>
        <p:spPr>
          <a:xfrm>
            <a:off x="4846320" y="3246120"/>
            <a:ext cx="3657600" cy="365760"/>
          </a:xfrm>
          <a:prstGeom prst="rect">
            <a:avLst/>
          </a:prstGeom>
          <a:noFill/>
          <a:ln/>
        </p:spPr>
        <p:txBody>
          <a:bodyPr wrap="square" lIns="0" tIns="0" rIns="0" bIns="0" rtlCol="0" anchor="ctr"/>
          <a:lstStyle/>
          <a:p>
            <a:pPr algn="ctr" indent="0" marL="0">
              <a:buNone/>
            </a:pPr>
            <a:r>
              <a:rPr lang="en-US" sz="2200" b="1" dirty="0">
                <a:solidFill>
                  <a:schemeClr val="accent6"/>
                </a:solidFill>
              </a:rPr>
              <a:t>Total weight = 13</a:t>
            </a:r>
            <a:endParaRPr lang="en-US" sz="2200" dirty="0"/>
          </a:p>
        </p:txBody>
      </p:sp>
      <p:sp>
        <p:nvSpPr>
          <p:cNvPr id="32" name="Summary line"/>
          <p:cNvSpPr txBox="1"/>
          <p:nvPr/>
        </p:nvSpPr>
        <p:spPr>
          <a:xfrm>
            <a:off x="4846320" y="3703320"/>
            <a:ext cx="3657600" cy="274320"/>
          </a:xfrm>
          <a:prstGeom prst="rect">
            <a:avLst/>
          </a:prstGeom>
          <a:noFill/>
          <a:ln/>
        </p:spPr>
        <p:txBody>
          <a:bodyPr wrap="square" lIns="0" tIns="0" rIns="0" bIns="0" rtlCol="0" anchor="ctr"/>
          <a:lstStyle/>
          <a:p>
            <a:pPr algn="ctr" indent="0" marL="0">
              <a:buNone/>
            </a:pPr>
            <a:r>
              <a:rPr lang="en-US" sz="1200" dirty="0">
                <a:solidFill>
                  <a:schemeClr val="bg2"/>
                </a:solidFill>
              </a:rPr>
              <a:t>O(E log V)  ·  Greedy  ·  V − 1 edges</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A5F8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Prims MST Light Blue">
  <a:themeElements>
    <a:clrScheme name="Prims MST Light Blue">
      <a:dk1>
        <a:srgbClr val="EEF4FF"/>
      </a:dk1>
      <a:lt1>
        <a:srgbClr val="10224A"/>
      </a:lt1>
      <a:dk2>
        <a:srgbClr val="FFFFFF"/>
      </a:dk2>
      <a:lt2>
        <a:srgbClr val="4A5F85"/>
      </a:lt2>
      <a:accent1>
        <a:srgbClr val="BBD3FA"/>
      </a:accent1>
      <a:accent2>
        <a:srgbClr val="1D4ED8"/>
      </a:accent2>
      <a:accent3>
        <a:srgbClr val="9DB4D6"/>
      </a:accent3>
      <a:accent4>
        <a:srgbClr val="0EA5E9"/>
      </a:accent4>
      <a:accent5>
        <a:srgbClr val="F97316"/>
      </a:accent5>
      <a:accent6>
        <a:srgbClr val="15803D"/>
      </a:accent6>
      <a:hlink>
        <a:srgbClr val="0EA5E9"/>
      </a:hlink>
      <a:folHlink>
        <a:srgbClr val="4A5F85"/>
      </a:folHlink>
    </a:clrScheme>
    <a:fontScheme name="Prims MST Light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Minimum Spanning Tree using Prim's Algorithm</dc:title>
  <dc:subject>PptxGenJS Presentation</dc:subject>
  <dc:creator>Vedant Tarare</dc:creator>
  <cp:lastModifiedBy>Vedant Tarare</cp:lastModifiedBy>
  <cp:revision>1</cp:revision>
  <dcterms:created xsi:type="dcterms:W3CDTF">2026-10-21T19:12:01Z</dcterms:created>
  <dcterms:modified xsi:type="dcterms:W3CDTF">2026-10-21T19:12:01Z</dcterms:modified>
</cp:coreProperties>
</file>